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Map Your Workflows to AI. My name is [your name], and I'm really excited to spend the next 90 minutes with you. By the end of today, you're going to walk out of here with a repeatable system for deciding which tasks in your workflow should use AI and exactly what kind of AI tool to use. We're going to work through two frameworks that are practical, they're based on how real teams make these decisions, and then we're going to apply them to your actual work. A lot of AI projects fail because people pick the wrong task or the wrong tool. Today, you're going to avoid that. So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 we're doing for the next ninety minutes. We're going to start with a hook—why do most AI projects fail? Then we're going to work through two frameworks that answer two key questions: Should AI touch this task at all, and if so, what kind? We'll spend time on each framework, then you're going to open up your workbooks and map three of your actual tasks using what you've learned. After that, we'll hear from each other about what we discovered, we'll calculate the real dollar value of what you can save, and finally, you're each going to commit to one task to try this week. Don't worry if it feels like a lot—we're going to go at a good pace and I'll be here to help you work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how many of you have tried ChatGPT for work and then kind of gave up on it after a few weeks? Yeah, you're not alone. Seventy percent of AI pilots never make it to production. That's a lot of wasted effort, wasted license fees, and wasted hope. So why does that happen? Most of the time it's because people are trying to use AI on the wrong task. Maybe the task changes constantly, so the AI solution breaks every few weeks. Or maybe the task is too subjective—it needs real human judgment. Or the data is sensitive and nobody wants to put it into a cloud tool. The pattern I see over and over is someone gets excited about what AI can do, they pick a shiny tool, and they don't stop to ask: is this actually a good fit? Today, we're going to change that. By the end of this workshop, you're going to know exactly which tasks are worth putting AI on and which ones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work we're doing today boils down to two questions. First: Should AI touch this task at all? That's where the SAFE Framework comes in. SAFE helps you score your task across four dimensions and figure out if it's even worth trying to use AI on. The second question is: If yes, what kind of AI should I use? Maybe you just need a standalone assistant like ChatGPT or Claude. Maybe you need something integrated into your tools like Excel or Word. Maybe you need something fully automated like Zapier. That's where the IA-AI Framework helps. By the time you leave here today, you're going to know exactly how to answer both questions, and you're going to have a system you can use for any task that comes your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let's dive into the first framework. This is where we answer the question: Should AI touch this task? We're going to use something called SAFE, which looks at four dimensions of your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each dimension. Stability is about whether the process itself is stable. If I wrote down detailed instructions for this task, how quickly would those instructions be outdated? In a highly stable task, the rules stay the same. In an unstable task, the rules change constantly. Ambiguity is about judgment. Does the task have one clear right answer, or does it require human judgment and interpretation? High ambiguity tasks are hard for AI because there's no single correct answer to learn from. Frequency is straightforward: how often do you actually do this task? If you do it once every three years, the ROI on AI is lower than if you do it daily. And Exposure is about data sensitivity. Are you working with public information, or are you working with customer data, financial information, medical records? High exposure means you need to be really careful about what tool you use. Let me give you a concrete example. Think about monthly close reporting. If you're a finance team closing the books at the end of each month, that's something you do on a very predictable schedule. The rules for what gets reported usually don't change, right? The calculations are defined. The data you're using is your own internal data, not customer PII. So that's a high-stability, low-ambiguity, high-frequency, medium-exposure task. We'll talk about what that means for AI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you score each dimension. For Stability, if the rules or process changes frequently, that's low stability. If the process is the same every time, that's high. For Ambiguity, if there's one clear right answer, that's low ambiguity. If the task requires interpretation or judgment, that's high. Frequency is the easiest to think about—how often do you actually do it? And Exposure: public data is low exposure, sensitive data is high. The key thing here is that you're not trying to hit one specific score. Most tasks are going to be mixed. You might have high stability but high ambiguity. And that's totally fine. We'll put that on our matrix in a minute and figure out what it means. Here's the good news: most tasks are not at the extremes. You're usually going to score somewhere in the middle, which makes them a lot easier to reason about than if everything was at one end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each of these examples so you can see how SAFE scoring works in real life. First: Monthly Close Reporting. This is something finance teams do every month on a predictable schedule. The rules for what goes into the monthly close don't change. The calculations are defined. You're doing it frequently—it's not a one-off. And the data you're using is your own internal data, not customer PII, so exposure is medium. That scores as high stability, low ambiguity, high frequency, medium exposure. Second example: Ad Hoc Executive Analysis. This is when an exec calls and says, I wonder what's going on with our retention in the Northeast. That's a low-stability task because the questions change every time. It's high ambiguity because you're not sure exactly what they're looking for—maybe they want a breakdown by product, maybe by customer segment. It's low frequency because it's ad hoc. And it's high exposure because you're working with customer data. Notice that's completely different from the monthly close. Third example: Data Cleaning and Formatting. Say you get a CSV from a vendor and you need to standardize it, fill in gaps, match it to your internal ID structure. That's high stability—the process is the same every time. Low ambiguity—there's a right way to do it. High frequency—you do it constantly. And low exposure—it's usually internal or vendor data, not customer PII. That one is nearly perfect for AI. Why am I highlighting that? Because it shows you that different kinds of tasks benefit from AI for different reasons. Monthly close could work because it's stable and frequent. Data cleaning is even better because it's also low-ambiguity. But ad hoc analysis—even though it matters to your exec—is not a good fit for AI automation because the rules keep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going to zoom in on two of those four dimensions and put them on a matrix. This is where things start to get really visual and you'll see how to make the actual decision about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matrix that brings Stability and Ambiguity together. The horizontal axis is Ambiguity—from low on the left to high on the right. The vertical axis is Stability—from low on the bottom to high on the top. Let me walk through each quadrant. Top left is the AI Sweet Spot. High stability, low ambiguity. Rules don't change, there's a clear right answer. This is where AI does its best work because it can learn the pattern and repeat it reliably. Top right is Rules Must Hold. The rules are stable—the task doesn't change—but there's some judgment involved. An AI can draft something here, but a human should verify it because there are nuances to consider. Bottom left is the Convenience Zone. You have high ambiguity, low stability. This is where AI can save you time on individual tasks, but because the rules keep changing, you can't build a sustainable automation. You'll be constantly tweaking it. Bottom right is the Judgment Zone. Low stability, high ambiguity. The rules change and there's judgment involved. This is not a good fit for AI automation. This is where you want humans in the driver's seat. You might still use AI to brainstorm or draft, but humans are making the decisions. What's important to remember is that the Sweet Spot doesn't mean AI is the only way. It means that IF you're going to use AI, the Sweet Spot is where you'll get the most reliable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how three real Excel tasks land on this matrix. First: Monthly KPI Dashboard Refresh. You're pulling numbers from your system, formatting them, adding them to a dashboard. The rules don't change month to month. There's one right way to pull and format the numbers. You do this monthly, so it's high frequency. That puts you in the AI Sweet Spot, top left. An AI could help you with the formulas, the data pulls, even automating the refresh if you want to go that far. Second example: Exploratory Data Analysis. An exec says, I wonder what's going on with our churn rate in the Midwest. You don't know exactly what they'll ask next month. The analysis might be different every time. It might require judgment about which metrics matter. That's low stability, high ambiguity—bottom right, the Judgment Zone. Here, AI is helpful for brainstorming and drafting, but humans are in control. Third: Quarterly Board Deck Data Pull. The format is stable—every board meeting looks similar. But there's judgment involved in choosing which metric to highlight, or whether to include a comment about why something's trending a certain way. High stability, but you need judgment. That's Rules Must Hold. An AI could pull the data and format it, but you'd want a human reviewing it before it goes to the board. Notice the pattern: the Sweet Spot is where you automate. Rules Must Hold is where you use AI to assist but keep humans in the loop. Judgment Zone is human-led with AI optional.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overlay two more dimensions: Exposure and Frequency. Think of Exposure as a veto. If your data is sensitive—if you're working with customer PII, or financial records, or anything regulated—it doesn't go into a cloud AI tool without legal and security sign-off. And I want to be clear: this isn't about whether ChatGPT or Claude is secure. It's about whose data it is. If you're handling customer information, that customer has a right to know where their data is going. Frequency is the ROI lever. If you do a task every single day, even saving 15 minutes a day compounds to 60 hours a year. That's worth setting up an automation for. If you do a task once a quarter, the ROI is lower, but if that task is painful or error-prone, it might still be worth it. Here's what I want you to take away: SAFE gives you four lenses. You don't have to score perfectly on all of them. But Exposure is a hard veto. And Frequency and Stability together tell you where the value is. And let me be transparent about something. I get a lot of questions in trainings about security and data handling. Those are fair questions, but I'm not a security or compliance decision-maker for your organization. My role is to teach you how these tools work. What's allowed depends on your company's policies. The best approach is to learn what tools can do here in this workshop, then validate with your IT and security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know whether AI should touch your task, let's figure out what kind of AI. That's where the IA-AI Framework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IA-AI Framework is about figuring out what deployment model fits your task. This framework comes from Tobias Zwingmann's book, The Profitable AI Advantage, published by Packt. It's an excellent read if you want to go deeper on AI deployment strategy. I want to be upfront that I'm teaching his model here with attribution — it's the best framework I've found for answering the question of what kind of AI to use. The framework has two axes. Integration: Does the AI work inside your existing tools, or is it separate? Think of it this way. ChatGPT lives in a separate tab. You open it, you type a question, you get an answer. That's low integration. Excel Copilot, on the other hand, sits inside Excel. You click a button and it works on your data right there in your spreadsheet. That's high integration. Automation: How much is the AI running on its own versus waiting for you to ask? Low automation is you asking questions. High automation is the AI doing work on a schedule or trigger without you having to ask each time. You combine these two axes to get four different deployment types, and we'll go through each one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IA-AI matrix. On the vertical axis is Integration, from low at the bottom to high at the top. On the horizontal axis is Automation, from low on the left to high on the right. Bottom left is Assistants: low integration, low automation. That's ChatGPT, Claude, Gemini. You open them in a separate browser tab, you ask a question, you get an answer. You're in control at every step. These are available in free and paid tiers, but check with your organization about which tools are approved for use with your data. Top left is Copilots: high integration, low automation. These work inside your tools—Excel, Word, GitHub. You click a button and the AI works on your data right there. You stay in control. Bottom right is Autopilots: low integration, high automation. Think Zapier or Make or a scheduled Python script. These run on a trigger or schedule without you having to ask. They're separate from your tools but they automate work. Top right is Agents: high integration, high automation. These are advanced. The AI is sitting inside your tools and running workflows automatically. Most teams aren't there yet. Most of you will start in Assistants, which is fine. That covers maybe 80 percent of use cases. Check with your IT team about which assistant tools your organization has approved. Many companies now have enterprise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quadrant is where most people start. These are standalone tools you use in a browser—ChatGPT, Claude, Gemini. They handle a wide range of tasks. Now, an important caveat. I'm going to show you what these tools can do, but I'm not your IT or security team. Whether you can use these tools—and which ones—depends on your organization's policies. Think of me like a personal trainer. I can teach you the exercises, but I'm not the one approving your medical treatment plan. Before you use any AI tool on real work data, check with your IT and compliance team. Many organizations now have approved tool lists or enterprise agreements with specific vendors. Start there. What I CAN tell you is what these tools are capable of, so you know what to ask your IT team about. The Assistant tools are really good at certain things. They're great for drafting—emails, summaries, documents, whole sections of content. They can write code and SQL formulas, or fix code you give them. They can explain concepts, help you think through problems. They're good at brainstorming—you can say, here's what I'm trying to do, give me some approaches. They can transform data from one format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Copilots are where integration starts to matter. The main difference from Assistants is that Copilots work inside the tools you already use. In Excel, you click a button and the Copilot analyzes your data right there. In Word, you can ask it to draft a section without leaving the document. In Outlook, you can ask it to draft an email right in the compose box. This eliminates context-switching—you don't have to open a new tab, copy your data, paste it in, and then copy the answer back. Copilots also have some context about what you're working on, so they can give more specific help. For example, Excel Copilot can see your data and your formulas, so it can suggest better ways to do calculations. The key difference is integration. Whether you use an Assistant or a Copilot depends on your workflow needs AND what your organization has approved. Some companies have M365 Copilot licenses. Some don't but have approved other tools. The framework helps you know what to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how the two frameworks work together. First, you score your task with SAFE. Stability, Ambiguity, Frequency, Exposure. That tells you whether AI is even a good fit. If it's high exposure and you haven't gotten security clearance, stop. If it's in the Judgment Zone and changes constantly, AI can help but won't automate it. Second, you place it on the Stability by Ambiguity matrix. That tells you whether AI should automate the task or assist you with it. If you're in the Sweet Spot, automation is possible. If you're in Rules Must Hold, AI assists but humans verify. Third, you think about Exposure and Frequency. Exposure is a hard veto. Frequency tells you whether the ROI is worth the setup. Fourth, you pick a deployment type. Start with whatever tool your organization has approved—whether that's an enterprise ChatGPT account, Claude through your company, or M365 Copilot. If that works and you do it regularly, maybe move to another option. Most of you will stop there. Fifth, you start small. Don't try to automate your entire job. Pick one task, try it for two weeks, see what you learn. That's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we've done a lot of explanation. Now it's time for you to do the work. We're going to spend the next twenty minutes on an activity where you map three of your actual tasks using what we've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workbooks to the activity page. Here's what we're doing for the next twenty minutes. First, pick three tasks you're actually doing right now. Don't pick theoretical tasks or things you wish you were doing—pick the work that's sitting on your desk. Second, score each one with SAFE. Stability: does the process change? Ambiguity: is there a clear right answer? Frequency: how often do you do it? Exposure: how sensitive is the data? Third, plot each task on the Stability by Ambiguity matrix. Where does it land? Sweet Spot, Rules Must Hold, Convenience Zone, Judgment Zone? Fourth, for the tasks that landed somewhere AI-ready, choose which deployment type makes sense. Would you use an Assistant like ChatGPT or Claude? Would you need Excel Copilot? Would you use Zapier to automate it? I'm going to be walking around the room. If you get stuck, raise your hand. If you're not sure what task to pick or how to score something, that's what I'm here for.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you're working, I'm going to be moving around the room. Here are some common things I hear and how to think through them. If you're not sure if something is high or low ambiguity, ask yourself: does this need human judgment? If multiple people could reasonably do it differently and that's okay, that's high ambiguity. If there's one right answer, that's low. If your task scores high on everything and seems like it can't be AI-ready, that's telling you something. Maybe the process changes too much. Maybe it needs judgment. That's not a failure—it's information. You can still use AI to help, but you probably won't fully automate it. Don't get stuck on picking the perfect tool. Start with an approved tool. Try it for a couple of weeks. If it works, great. If you need something more integrated or more automated, you can upgrade. And remember, tasks are messy. They don't fit neatly into boxes. If a task is close to the Sweet Spot but not quite, put it there and move forward. Don't let perfect be the enemy of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don't have a work example you can use for the activity, here are some alternatives. You can pick a personal workflow—maybe you're planning a trip, organizing your finances, or doing a job search. Those have the same kind of structure as work tasks. Or we have some sample scenarios you can use. A monthly budget report for a fifty-person marketing team. Weekly client status emails across twelve accounts. Quarterly compliance documentation. These are realistic examples that show how the frameworks work. Or you can pair up with someone who has a work example and observe their thinking. Watch how they score their task, where it lands on the matrix, what tool they'd pick. The frameworks work the same way regardless of which example you pick. Pick what feels most comfortable and gives you good thinking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work on the activity. Now let's hear from each other about what we discovered. This is where you learn from everyone else's thinking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around the room and hear from three or four of you. I want to hear what surprised you, what you learned, and what you're thinking about trying. I'm going to call on you, so think about one interesting discovery from your three tasks. If something you thought was perfect for AI turned out to have complications—maybe it's in the Judgment Zone, or the data is sensitive—that's a great thing to share. We all learn from each other's thinking. Who wants to go first? Tell us one of your three tasks and where it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we've figured out which tasks are good for AI. Now let's talk about the actual money. What are you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simple formula to calculate what this is actually worth. Time saved per task, times how many times you do it per year, times your hourly rate. That's your annual value. Let me do an example. Say you have a task that takes thirty minutes. You do it about fifty times a year—that's roughly once a week. You make seventy-five dollars an hour. Thirty minutes saved times fifty times per year is twenty-five hours. Twenty-five hours times seventy-five is eighteen hundred seventy-five dollars per year saved on just one task. Now, does it cost you anything to save that money? Many organizations have AI tools available already. Check what's available to you through enterprise agreements or approved tools. The point is, even modest time savings on a frequent task add up fast. This is why even a small task in the Sweet Spot is worth doing. You're not just saving time, you're freeing up your attention for higher-value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to do this math for yourself. Open your workbook to the Value Calculator page. Look at the AI Sweet Spot task you identified earlier. Think about how much time you'd save per instance. Maybe it's thirty minutes, maybe it's five minutes. Times it by how often you do it per year. If you're not sure, estimate. Think about your hourly rate or your company's loaded cost for an employee hour. Put all that into the formula. You've got three or four minutes. Work on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you know which tasks are good for AI. You know what you'll save. Now the last piece: what's the one thing you're actually going to do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last thing. I want you to commit to one task. Just one. Don't try to automate your whole job starting today. Pick one task that's in the Sweet Spot. Write it down in your workbook. Then write down which tool you'll use. Check with your IT team about what's approved. Write down when you'll try it. This week, or next week at the latest. And write down what success looks like. Maybe success is just: I tried it and it gave me something useful. Maybe it's: I saved thirty minutes. Write it down so you have something to measure against. I'm going to follow up with you in two weeks. I want to hear if you did it, what happened, what you learned. You don't have to be perfect. You don't have to automate it completely on day one. You just have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spending ninety minutes with me today. You've learned a repeatable system. It's SAFE to figure out if AI should touch a task. The 2×2 matrix and overlay dimensions to figure out how. IA-AI to pick the tool. Then you commit to one task and try it. Ninety minutes from now, you walked in wondering if AI was right for your work. You're walking out with a framework and a commitment. I'm going to send a follow-up email with a starter kit of free tools, some templates for the frameworks, and a link to our community. I want to hear how your one task goes. Reach out in two weeks and tell me what happened. And I want to give a shout-out to Tobias Zwingmann and his book The Profitable AI Advantage — the IA-AI framework we used today comes directly from that book. It's a great resource if you want to go deeper. The SAFE framework and 2×2 matrix are original Stringfest Analytics frameworks — you can read the full writeup on our blog.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resources I mentioned. These are all the tools we talked about today. Before you use any of them with work data, check with your IT and security teams about what's approved in your organization. I have time for questions if anyone has them. Anything you want to ask about the frameworks, or how to get started with a tool, or whether something is a good fit for your task? Otherwise, thanks again for being here. I can't wait to hear what you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algn="ctr" indent="0" marL="0">
              <a:buNone/>
            </a:pPr>
            <a:r>
              <a:rPr lang="en-US" sz="4400" b="1" dirty="0">
                <a:solidFill>
                  <a:srgbClr val="CF3338"/>
                </a:solidFill>
                <a:latin typeface="Arial Black" pitchFamily="34" charset="0"/>
                <a:ea typeface="Arial Black" pitchFamily="34" charset="-122"/>
                <a:cs typeface="Arial Black" pitchFamily="34" charset="-120"/>
              </a:rPr>
              <a:t>Map Your Workflows to AI</a:t>
            </a:r>
            <a:endParaRPr lang="en-US" sz="4400" dirty="0"/>
          </a:p>
        </p:txBody>
      </p:sp>
      <p:sp>
        <p:nvSpPr>
          <p:cNvPr id="3" name="Text 1"/>
          <p:cNvSpPr/>
          <p:nvPr/>
        </p:nvSpPr>
        <p:spPr>
          <a:xfrm>
            <a:off x="457200" y="2926080"/>
            <a:ext cx="8229600" cy="1097280"/>
          </a:xfrm>
          <a:prstGeom prst="rect">
            <a:avLst/>
          </a:prstGeom>
          <a:noFill/>
          <a:ln/>
        </p:spPr>
        <p:txBody>
          <a:bodyPr wrap="square" rtlCol="0" anchor="ctr"/>
          <a:lstStyle/>
          <a:p>
            <a:pPr algn="ctr" indent="0" marL="0">
              <a:buNone/>
            </a:pPr>
            <a:r>
              <a:rPr lang="en-US" sz="1800" dirty="0">
                <a:solidFill>
                  <a:srgbClr val="707070"/>
                </a:solidFill>
              </a:rPr>
              <a:t>A practical framework for deciding which tasks should use AI — and which kind</a:t>
            </a:r>
            <a:endParaRPr lang="en-US" sz="1800" dirty="0"/>
          </a:p>
        </p:txBody>
      </p:sp>
      <p:sp>
        <p:nvSpPr>
          <p:cNvPr id="4" name="Shape 2"/>
          <p:cNvSpPr/>
          <p:nvPr/>
        </p:nvSpPr>
        <p:spPr>
          <a:xfrm>
            <a:off x="8503920" y="4572000"/>
            <a:ext cx="182880" cy="182880"/>
          </a:xfrm>
          <a:prstGeom prst="triangle">
            <a:avLst/>
          </a:prstGeom>
          <a:solidFill>
            <a:srgbClr val="CF3338"/>
          </a:solidFill>
          <a:ln/>
        </p:spPr>
      </p:sp>
      <p:sp>
        <p:nvSpPr>
          <p:cNvPr id="5" name="Shape 3"/>
          <p:cNvSpPr/>
          <p:nvPr/>
        </p:nvSpPr>
        <p:spPr>
          <a:xfrm>
            <a:off x="8668512" y="4736592"/>
            <a:ext cx="182880" cy="182880"/>
          </a:xfrm>
          <a:prstGeom prst="triangle">
            <a:avLst/>
          </a:prstGeom>
          <a:solidFill>
            <a:srgbClr val="CF3338"/>
          </a:solidFill>
          <a:ln/>
        </p:spPr>
      </p:sp>
      <p:sp>
        <p:nvSpPr>
          <p:cNvPr id="6" name="Shape 4"/>
          <p:cNvSpPr/>
          <p:nvPr/>
        </p:nvSpPr>
        <p:spPr>
          <a:xfrm>
            <a:off x="8833104" y="4901184"/>
            <a:ext cx="182880" cy="182880"/>
          </a:xfrm>
          <a:prstGeom prst="triangle">
            <a:avLst/>
          </a:prstGeom>
          <a:solidFill>
            <a:srgbClr val="CF3338"/>
          </a:solidFill>
          <a:ln/>
        </p:spPr>
      </p:sp>
      <p:sp>
        <p:nvSpPr>
          <p:cNvPr id="7" name="Text 5"/>
          <p:cNvSpPr/>
          <p:nvPr/>
        </p:nvSpPr>
        <p:spPr>
          <a:xfrm>
            <a:off x="457200" y="4663440"/>
            <a:ext cx="8229600" cy="365760"/>
          </a:xfrm>
          <a:prstGeom prst="rect">
            <a:avLst/>
          </a:prstGeom>
          <a:noFill/>
          <a:ln/>
        </p:spPr>
        <p:txBody>
          <a:bodyPr wrap="square" rtlCol="0" anchor="ctr"/>
          <a:lstStyle/>
          <a:p>
            <a:pPr algn="r" indent="0" marL="0">
              <a:buNone/>
            </a:pPr>
            <a:r>
              <a:rPr lang="en-US" sz="1200" dirty="0">
                <a:solidFill>
                  <a:srgbClr val="707070"/>
                </a:solidFill>
              </a:rPr>
              <a:t>Stringfest Analytics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Today's Agenda</a:t>
            </a:r>
            <a:endParaRPr lang="en-US" sz="3600" dirty="0"/>
          </a:p>
        </p:txBody>
      </p:sp>
      <p:sp>
        <p:nvSpPr>
          <p:cNvPr id="3" name="Text 1"/>
          <p:cNvSpPr/>
          <p:nvPr/>
        </p:nvSpPr>
        <p:spPr>
          <a:xfrm>
            <a:off x="640080" y="109728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0-10 min</a:t>
            </a:r>
            <a:endParaRPr lang="en-US" sz="1200" dirty="0"/>
          </a:p>
        </p:txBody>
      </p:sp>
      <p:sp>
        <p:nvSpPr>
          <p:cNvPr id="4" name="Text 2"/>
          <p:cNvSpPr/>
          <p:nvPr/>
        </p:nvSpPr>
        <p:spPr>
          <a:xfrm>
            <a:off x="2011680" y="109728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Why Most AI Efforts Fail — The Hook</a:t>
            </a:r>
            <a:endParaRPr lang="en-US" sz="1200" dirty="0"/>
          </a:p>
        </p:txBody>
      </p:sp>
      <p:sp>
        <p:nvSpPr>
          <p:cNvPr id="5" name="Text 3"/>
          <p:cNvSpPr/>
          <p:nvPr/>
        </p:nvSpPr>
        <p:spPr>
          <a:xfrm>
            <a:off x="640080" y="150876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10-20 min</a:t>
            </a:r>
            <a:endParaRPr lang="en-US" sz="1200" dirty="0"/>
          </a:p>
        </p:txBody>
      </p:sp>
      <p:sp>
        <p:nvSpPr>
          <p:cNvPr id="6" name="Text 4"/>
          <p:cNvSpPr/>
          <p:nvPr/>
        </p:nvSpPr>
        <p:spPr>
          <a:xfrm>
            <a:off x="2011680" y="150876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The SAFE Framework</a:t>
            </a:r>
            <a:endParaRPr lang="en-US" sz="1200" dirty="0"/>
          </a:p>
        </p:txBody>
      </p:sp>
      <p:sp>
        <p:nvSpPr>
          <p:cNvPr id="7" name="Text 5"/>
          <p:cNvSpPr/>
          <p:nvPr/>
        </p:nvSpPr>
        <p:spPr>
          <a:xfrm>
            <a:off x="640080" y="192024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20-30 min</a:t>
            </a:r>
            <a:endParaRPr lang="en-US" sz="1200" dirty="0"/>
          </a:p>
        </p:txBody>
      </p:sp>
      <p:sp>
        <p:nvSpPr>
          <p:cNvPr id="8" name="Text 6"/>
          <p:cNvSpPr/>
          <p:nvPr/>
        </p:nvSpPr>
        <p:spPr>
          <a:xfrm>
            <a:off x="2011680" y="192024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Stability × Ambiguity 2×2 Matrix</a:t>
            </a:r>
            <a:endParaRPr lang="en-US" sz="1200" dirty="0"/>
          </a:p>
        </p:txBody>
      </p:sp>
      <p:sp>
        <p:nvSpPr>
          <p:cNvPr id="9" name="Text 7"/>
          <p:cNvSpPr/>
          <p:nvPr/>
        </p:nvSpPr>
        <p:spPr>
          <a:xfrm>
            <a:off x="640080" y="233172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30-45 min</a:t>
            </a:r>
            <a:endParaRPr lang="en-US" sz="1200" dirty="0"/>
          </a:p>
        </p:txBody>
      </p:sp>
      <p:sp>
        <p:nvSpPr>
          <p:cNvPr id="10" name="Text 8"/>
          <p:cNvSpPr/>
          <p:nvPr/>
        </p:nvSpPr>
        <p:spPr>
          <a:xfrm>
            <a:off x="2011680" y="233172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IA-AI Framework: What Kind of AI?</a:t>
            </a:r>
            <a:endParaRPr lang="en-US" sz="1200" dirty="0"/>
          </a:p>
        </p:txBody>
      </p:sp>
      <p:sp>
        <p:nvSpPr>
          <p:cNvPr id="11" name="Text 9"/>
          <p:cNvSpPr/>
          <p:nvPr/>
        </p:nvSpPr>
        <p:spPr>
          <a:xfrm>
            <a:off x="640080" y="274320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45-65 min</a:t>
            </a:r>
            <a:endParaRPr lang="en-US" sz="1200" dirty="0"/>
          </a:p>
        </p:txBody>
      </p:sp>
      <p:sp>
        <p:nvSpPr>
          <p:cNvPr id="12" name="Text 10"/>
          <p:cNvSpPr/>
          <p:nvPr/>
        </p:nvSpPr>
        <p:spPr>
          <a:xfrm>
            <a:off x="2011680" y="274320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Hands-On Activity: Map Your Workflows</a:t>
            </a:r>
            <a:endParaRPr lang="en-US" sz="1200" dirty="0"/>
          </a:p>
        </p:txBody>
      </p:sp>
      <p:sp>
        <p:nvSpPr>
          <p:cNvPr id="13" name="Text 11"/>
          <p:cNvSpPr/>
          <p:nvPr/>
        </p:nvSpPr>
        <p:spPr>
          <a:xfrm>
            <a:off x="640080" y="315468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65-75 min</a:t>
            </a:r>
            <a:endParaRPr lang="en-US" sz="1200" dirty="0"/>
          </a:p>
        </p:txBody>
      </p:sp>
      <p:sp>
        <p:nvSpPr>
          <p:cNvPr id="14" name="Text 12"/>
          <p:cNvSpPr/>
          <p:nvPr/>
        </p:nvSpPr>
        <p:spPr>
          <a:xfrm>
            <a:off x="2011680" y="315468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Gallery Share &amp; Debrief</a:t>
            </a:r>
            <a:endParaRPr lang="en-US" sz="1200" dirty="0"/>
          </a:p>
        </p:txBody>
      </p:sp>
      <p:sp>
        <p:nvSpPr>
          <p:cNvPr id="15" name="Text 13"/>
          <p:cNvSpPr/>
          <p:nvPr/>
        </p:nvSpPr>
        <p:spPr>
          <a:xfrm>
            <a:off x="640080" y="356616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75-85 min</a:t>
            </a:r>
            <a:endParaRPr lang="en-US" sz="1200" dirty="0"/>
          </a:p>
        </p:txBody>
      </p:sp>
      <p:sp>
        <p:nvSpPr>
          <p:cNvPr id="16" name="Text 14"/>
          <p:cNvSpPr/>
          <p:nvPr/>
        </p:nvSpPr>
        <p:spPr>
          <a:xfrm>
            <a:off x="2011680" y="356616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Value Threshold Calculator</a:t>
            </a:r>
            <a:endParaRPr lang="en-US" sz="1200" dirty="0"/>
          </a:p>
        </p:txBody>
      </p:sp>
      <p:sp>
        <p:nvSpPr>
          <p:cNvPr id="17" name="Text 15"/>
          <p:cNvSpPr/>
          <p:nvPr/>
        </p:nvSpPr>
        <p:spPr>
          <a:xfrm>
            <a:off x="640080" y="3977640"/>
            <a:ext cx="11887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85-90 min</a:t>
            </a:r>
            <a:endParaRPr lang="en-US" sz="1200" dirty="0"/>
          </a:p>
        </p:txBody>
      </p:sp>
      <p:sp>
        <p:nvSpPr>
          <p:cNvPr id="18" name="Text 16"/>
          <p:cNvSpPr/>
          <p:nvPr/>
        </p:nvSpPr>
        <p:spPr>
          <a:xfrm>
            <a:off x="2011680" y="3977640"/>
            <a:ext cx="6492240" cy="320040"/>
          </a:xfrm>
          <a:prstGeom prst="rect">
            <a:avLst/>
          </a:prstGeom>
          <a:noFill/>
          <a:ln/>
        </p:spPr>
        <p:txBody>
          <a:bodyPr wrap="square" rtlCol="0" anchor="ctr"/>
          <a:lstStyle/>
          <a:p>
            <a:pPr indent="0" marL="0">
              <a:buNone/>
            </a:pPr>
            <a:r>
              <a:rPr lang="en-US" sz="1200" dirty="0">
                <a:solidFill>
                  <a:srgbClr val="EEECE1"/>
                </a:solidFill>
                <a:latin typeface="Arial" pitchFamily="34" charset="0"/>
                <a:ea typeface="Arial" pitchFamily="34" charset="-122"/>
                <a:cs typeface="Arial" pitchFamily="34" charset="-120"/>
              </a:rPr>
              <a:t>Your One Commitment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CF3338"/>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Why Most AI Efforts Fail</a:t>
            </a:r>
            <a:endParaRPr lang="en-US" sz="3200" dirty="0"/>
          </a:p>
        </p:txBody>
      </p:sp>
      <p:sp>
        <p:nvSpPr>
          <p:cNvPr id="4" name="Shape 2"/>
          <p:cNvSpPr/>
          <p:nvPr/>
        </p:nvSpPr>
        <p:spPr>
          <a:xfrm>
            <a:off x="1371600" y="1645920"/>
            <a:ext cx="6400800" cy="1371600"/>
          </a:xfrm>
          <a:prstGeom prst="rect">
            <a:avLst/>
          </a:prstGeom>
          <a:solidFill>
            <a:srgbClr val="CF3338"/>
          </a:solidFill>
          <a:ln/>
        </p:spPr>
      </p:sp>
      <p:sp>
        <p:nvSpPr>
          <p:cNvPr id="5" name="Text 3"/>
          <p:cNvSpPr/>
          <p:nvPr/>
        </p:nvSpPr>
        <p:spPr>
          <a:xfrm>
            <a:off x="1554480" y="1828800"/>
            <a:ext cx="6035040" cy="1005840"/>
          </a:xfrm>
          <a:prstGeom prst="rect">
            <a:avLst/>
          </a:prstGeom>
          <a:noFill/>
          <a:ln/>
        </p:spPr>
        <p:txBody>
          <a:bodyPr wrap="square" rtlCol="0" anchor="ctr"/>
          <a:lstStyle/>
          <a:p>
            <a:pPr algn="ctr" indent="0" marL="0">
              <a:buNone/>
            </a:pPr>
            <a:r>
              <a:rPr lang="en-US" sz="2800" b="1" dirty="0">
                <a:solidFill>
                  <a:srgbClr val="FFFFFF"/>
                </a:solidFill>
              </a:rPr>
              <a:t>70% of AI pilots never reach production</a:t>
            </a:r>
            <a:endParaRPr lang="en-US" sz="2800" dirty="0"/>
          </a:p>
        </p:txBody>
      </p:sp>
      <p:sp>
        <p:nvSpPr>
          <p:cNvPr id="6" name="Text 4"/>
          <p:cNvSpPr/>
          <p:nvPr/>
        </p:nvSpPr>
        <p:spPr>
          <a:xfrm>
            <a:off x="457200" y="3291840"/>
            <a:ext cx="8229600" cy="365760"/>
          </a:xfrm>
          <a:prstGeom prst="rect">
            <a:avLst/>
          </a:prstGeom>
          <a:noFill/>
          <a:ln/>
        </p:spPr>
        <p:txBody>
          <a:bodyPr wrap="square" rtlCol="0" anchor="ctr"/>
          <a:lstStyle/>
          <a:p>
            <a:pPr indent="0" marL="0">
              <a:buNone/>
            </a:pPr>
            <a:r>
              <a:rPr lang="en-US" sz="1800" b="1" dirty="0">
                <a:solidFill>
                  <a:srgbClr val="CF3338"/>
                </a:solidFill>
                <a:latin typeface="Arial Black" pitchFamily="34" charset="0"/>
                <a:ea typeface="Arial Black" pitchFamily="34" charset="-122"/>
                <a:cs typeface="Arial Black" pitchFamily="34" charset="-120"/>
              </a:rPr>
              <a:t>The Problem:</a:t>
            </a:r>
            <a:endParaRPr lang="en-US" sz="1800" dirty="0"/>
          </a:p>
        </p:txBody>
      </p:sp>
      <p:sp>
        <p:nvSpPr>
          <p:cNvPr id="7" name="Text 5"/>
          <p:cNvSpPr/>
          <p:nvPr/>
        </p:nvSpPr>
        <p:spPr>
          <a:xfrm>
            <a:off x="457200" y="3749040"/>
            <a:ext cx="8229600" cy="1097280"/>
          </a:xfrm>
          <a:prstGeom prst="rect">
            <a:avLst/>
          </a:prstGeom>
          <a:noFill/>
          <a:ln/>
        </p:spPr>
        <p:txBody>
          <a:bodyPr wrap="square" rtlCol="0" anchor="ctr"/>
          <a:lstStyle/>
          <a:p>
            <a:pPr algn="l" indent="0" marL="0">
              <a:buNone/>
            </a:pPr>
            <a:r>
              <a:rPr lang="en-US" sz="1400" dirty="0">
                <a:solidFill>
                  <a:srgbClr val="1F2120"/>
                </a:solidFill>
              </a:rPr>
              <a:t>The wrong tool solving the wrong problem. People try to automate tasks that are too ambiguous, too sensitive, or that change constantly. They pick a shiny tool before they understand what they actually need.</a:t>
            </a:r>
            <a:endParaRPr lang="en-US" sz="1400" dirty="0"/>
          </a:p>
        </p:txBody>
      </p:sp>
      <p:sp>
        <p:nvSpPr>
          <p:cNvPr id="8" name="Shape 6"/>
          <p:cNvSpPr/>
          <p:nvPr/>
        </p:nvSpPr>
        <p:spPr>
          <a:xfrm>
            <a:off x="8503920" y="4572000"/>
            <a:ext cx="182880" cy="182880"/>
          </a:xfrm>
          <a:prstGeom prst="triangle">
            <a:avLst/>
          </a:prstGeom>
          <a:solidFill>
            <a:srgbClr val="CF3338"/>
          </a:solidFill>
          <a:ln/>
        </p:spPr>
      </p:sp>
      <p:sp>
        <p:nvSpPr>
          <p:cNvPr id="9" name="Shape 7"/>
          <p:cNvSpPr/>
          <p:nvPr/>
        </p:nvSpPr>
        <p:spPr>
          <a:xfrm>
            <a:off x="8668512" y="4736592"/>
            <a:ext cx="182880" cy="182880"/>
          </a:xfrm>
          <a:prstGeom prst="triangle">
            <a:avLst/>
          </a:prstGeom>
          <a:solidFill>
            <a:srgbClr val="CF3338"/>
          </a:solidFill>
          <a:ln/>
        </p:spPr>
      </p:sp>
      <p:sp>
        <p:nvSpPr>
          <p:cNvPr id="10" name="Shape 8"/>
          <p:cNvSpPr/>
          <p:nvPr/>
        </p:nvSpPr>
        <p:spPr>
          <a:xfrm>
            <a:off x="8833104" y="4901184"/>
            <a:ext cx="182880" cy="182880"/>
          </a:xfrm>
          <a:prstGeom prst="triangle">
            <a:avLst/>
          </a:prstGeom>
          <a:solidFill>
            <a:srgbClr val="CF3338"/>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F3338"/>
          </a:solidFill>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The Two Questions</a:t>
            </a:r>
            <a:endParaRPr lang="en-US" sz="3200" dirty="0"/>
          </a:p>
        </p:txBody>
      </p:sp>
      <p:sp>
        <p:nvSpPr>
          <p:cNvPr id="4" name="Shape 2"/>
          <p:cNvSpPr/>
          <p:nvPr/>
        </p:nvSpPr>
        <p:spPr>
          <a:xfrm>
            <a:off x="457200" y="1097280"/>
            <a:ext cx="3931920" cy="2560320"/>
          </a:xfrm>
          <a:prstGeom prst="rect">
            <a:avLst/>
          </a:prstGeom>
          <a:solidFill>
            <a:srgbClr val="CF3338"/>
          </a:solidFill>
          <a:ln/>
        </p:spPr>
      </p:sp>
      <p:sp>
        <p:nvSpPr>
          <p:cNvPr id="5" name="Text 3"/>
          <p:cNvSpPr/>
          <p:nvPr/>
        </p:nvSpPr>
        <p:spPr>
          <a:xfrm>
            <a:off x="640080" y="1280160"/>
            <a:ext cx="3566160" cy="365760"/>
          </a:xfrm>
          <a:prstGeom prst="rect">
            <a:avLst/>
          </a:prstGeom>
          <a:noFill/>
          <a:ln/>
        </p:spPr>
        <p:txBody>
          <a:bodyPr wrap="square" rtlCol="0" anchor="ctr"/>
          <a:lstStyle/>
          <a:p>
            <a:pPr indent="0" marL="0">
              <a:buNone/>
            </a:pPr>
            <a:r>
              <a:rPr lang="en-US" sz="1600" b="1" dirty="0">
                <a:solidFill>
                  <a:srgbClr val="EEECE1"/>
                </a:solidFill>
                <a:latin typeface="Arial Black" pitchFamily="34" charset="0"/>
                <a:ea typeface="Arial Black" pitchFamily="34" charset="-122"/>
                <a:cs typeface="Arial Black" pitchFamily="34" charset="-120"/>
              </a:rPr>
              <a:t>Question 1</a:t>
            </a:r>
            <a:endParaRPr lang="en-US" sz="1600" dirty="0"/>
          </a:p>
        </p:txBody>
      </p:sp>
      <p:sp>
        <p:nvSpPr>
          <p:cNvPr id="6" name="Text 4"/>
          <p:cNvSpPr/>
          <p:nvPr/>
        </p:nvSpPr>
        <p:spPr>
          <a:xfrm>
            <a:off x="640080" y="1737360"/>
            <a:ext cx="3566160" cy="731520"/>
          </a:xfrm>
          <a:prstGeom prst="rect">
            <a:avLst/>
          </a:prstGeom>
          <a:noFill/>
          <a:ln/>
        </p:spPr>
        <p:txBody>
          <a:bodyPr wrap="square"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Should AI touch this task?</a:t>
            </a:r>
            <a:endParaRPr lang="en-US" sz="2000" dirty="0"/>
          </a:p>
        </p:txBody>
      </p:sp>
      <p:sp>
        <p:nvSpPr>
          <p:cNvPr id="7" name="Text 5"/>
          <p:cNvSpPr/>
          <p:nvPr/>
        </p:nvSpPr>
        <p:spPr>
          <a:xfrm>
            <a:off x="640080" y="2560320"/>
            <a:ext cx="3566160" cy="731520"/>
          </a:xfrm>
          <a:prstGeom prst="rect">
            <a:avLst/>
          </a:prstGeom>
          <a:noFill/>
          <a:ln/>
        </p:spPr>
        <p:txBody>
          <a:bodyPr wrap="square" rtlCol="0" anchor="ctr"/>
          <a:lstStyle/>
          <a:p>
            <a:pPr indent="0" marL="0">
              <a:buNone/>
            </a:pPr>
            <a:r>
              <a:rPr lang="en-US" sz="1400" dirty="0">
                <a:solidFill>
                  <a:srgbClr val="EEECE1"/>
                </a:solidFill>
              </a:rPr>
              <a:t>→ SAFE Framework</a:t>
            </a:r>
            <a:endParaRPr lang="en-US" sz="1400" dirty="0"/>
          </a:p>
        </p:txBody>
      </p:sp>
      <p:sp>
        <p:nvSpPr>
          <p:cNvPr id="8" name="Shape 6"/>
          <p:cNvSpPr/>
          <p:nvPr/>
        </p:nvSpPr>
        <p:spPr>
          <a:xfrm>
            <a:off x="4754880" y="1097280"/>
            <a:ext cx="3931920" cy="2560320"/>
          </a:xfrm>
          <a:prstGeom prst="rect">
            <a:avLst/>
          </a:prstGeom>
          <a:solidFill>
            <a:srgbClr val="707070"/>
          </a:solidFill>
          <a:ln/>
        </p:spPr>
      </p:sp>
      <p:sp>
        <p:nvSpPr>
          <p:cNvPr id="9" name="Text 7"/>
          <p:cNvSpPr/>
          <p:nvPr/>
        </p:nvSpPr>
        <p:spPr>
          <a:xfrm>
            <a:off x="4937760" y="1280160"/>
            <a:ext cx="3566160" cy="365760"/>
          </a:xfrm>
          <a:prstGeom prst="rect">
            <a:avLst/>
          </a:prstGeom>
          <a:noFill/>
          <a:ln/>
        </p:spPr>
        <p:txBody>
          <a:bodyPr wrap="square" rtlCol="0" anchor="ctr"/>
          <a:lstStyle/>
          <a:p>
            <a:pPr indent="0" marL="0">
              <a:buNone/>
            </a:pPr>
            <a:r>
              <a:rPr lang="en-US" sz="1600" b="1" dirty="0">
                <a:solidFill>
                  <a:srgbClr val="EEECE1"/>
                </a:solidFill>
                <a:latin typeface="Arial Black" pitchFamily="34" charset="0"/>
                <a:ea typeface="Arial Black" pitchFamily="34" charset="-122"/>
                <a:cs typeface="Arial Black" pitchFamily="34" charset="-120"/>
              </a:rPr>
              <a:t>Question 2</a:t>
            </a:r>
            <a:endParaRPr lang="en-US" sz="1600" dirty="0"/>
          </a:p>
        </p:txBody>
      </p:sp>
      <p:sp>
        <p:nvSpPr>
          <p:cNvPr id="10" name="Text 8"/>
          <p:cNvSpPr/>
          <p:nvPr/>
        </p:nvSpPr>
        <p:spPr>
          <a:xfrm>
            <a:off x="4937760" y="1737360"/>
            <a:ext cx="3566160" cy="731520"/>
          </a:xfrm>
          <a:prstGeom prst="rect">
            <a:avLst/>
          </a:prstGeom>
          <a:noFill/>
          <a:ln/>
        </p:spPr>
        <p:txBody>
          <a:bodyPr wrap="square"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If yes, what kind of AI?</a:t>
            </a:r>
            <a:endParaRPr lang="en-US" sz="2000" dirty="0"/>
          </a:p>
        </p:txBody>
      </p:sp>
      <p:sp>
        <p:nvSpPr>
          <p:cNvPr id="11" name="Text 9"/>
          <p:cNvSpPr/>
          <p:nvPr/>
        </p:nvSpPr>
        <p:spPr>
          <a:xfrm>
            <a:off x="4937760" y="2560320"/>
            <a:ext cx="3566160" cy="731520"/>
          </a:xfrm>
          <a:prstGeom prst="rect">
            <a:avLst/>
          </a:prstGeom>
          <a:noFill/>
          <a:ln/>
        </p:spPr>
        <p:txBody>
          <a:bodyPr wrap="square" rtlCol="0" anchor="ctr"/>
          <a:lstStyle/>
          <a:p>
            <a:pPr indent="0" marL="0">
              <a:buNone/>
            </a:pPr>
            <a:r>
              <a:rPr lang="en-US" sz="1400" dirty="0">
                <a:solidFill>
                  <a:srgbClr val="EEECE1"/>
                </a:solidFill>
              </a:rPr>
              <a:t>→ IA-AI Framework</a:t>
            </a:r>
            <a:endParaRPr lang="en-US" sz="1400" dirty="0"/>
          </a:p>
        </p:txBody>
      </p:sp>
      <p:sp>
        <p:nvSpPr>
          <p:cNvPr id="12" name="Text 10"/>
          <p:cNvSpPr/>
          <p:nvPr/>
        </p:nvSpPr>
        <p:spPr>
          <a:xfrm>
            <a:off x="457200" y="3931920"/>
            <a:ext cx="8229600" cy="731520"/>
          </a:xfrm>
          <a:prstGeom prst="rect">
            <a:avLst/>
          </a:prstGeom>
          <a:noFill/>
          <a:ln/>
        </p:spPr>
        <p:txBody>
          <a:bodyPr wrap="square" rtlCol="0" anchor="ctr"/>
          <a:lstStyle/>
          <a:p>
            <a:pPr algn="ctr" indent="0" marL="0">
              <a:buNone/>
            </a:pPr>
            <a:r>
              <a:rPr lang="en-US" sz="1400" i="1" dirty="0">
                <a:solidFill>
                  <a:srgbClr val="1F2120"/>
                </a:solidFill>
              </a:rPr>
              <a:t>By the end of today, you'll have a repeatable system you can use forever.</a:t>
            </a:r>
            <a:endParaRPr lang="en-US" sz="1400" dirty="0"/>
          </a:p>
        </p:txBody>
      </p:sp>
      <p:sp>
        <p:nvSpPr>
          <p:cNvPr id="13" name="Shape 11"/>
          <p:cNvSpPr/>
          <p:nvPr/>
        </p:nvSpPr>
        <p:spPr>
          <a:xfrm>
            <a:off x="8503920" y="4572000"/>
            <a:ext cx="182880" cy="182880"/>
          </a:xfrm>
          <a:prstGeom prst="triangle">
            <a:avLst/>
          </a:prstGeom>
          <a:solidFill>
            <a:srgbClr val="CF3338"/>
          </a:solidFill>
          <a:ln/>
        </p:spPr>
      </p:sp>
      <p:sp>
        <p:nvSpPr>
          <p:cNvPr id="14" name="Shape 12"/>
          <p:cNvSpPr/>
          <p:nvPr/>
        </p:nvSpPr>
        <p:spPr>
          <a:xfrm>
            <a:off x="8668512" y="4736592"/>
            <a:ext cx="182880" cy="182880"/>
          </a:xfrm>
          <a:prstGeom prst="triangle">
            <a:avLst/>
          </a:prstGeom>
          <a:solidFill>
            <a:srgbClr val="CF3338"/>
          </a:solidFill>
          <a:ln/>
        </p:spPr>
      </p:sp>
      <p:sp>
        <p:nvSpPr>
          <p:cNvPr id="15" name="Shape 13"/>
          <p:cNvSpPr/>
          <p:nvPr/>
        </p:nvSpPr>
        <p:spPr>
          <a:xfrm>
            <a:off x="8833104" y="4901184"/>
            <a:ext cx="182880" cy="182880"/>
          </a:xfrm>
          <a:prstGeom prst="triangle">
            <a:avLst/>
          </a:prstGeom>
          <a:solidFill>
            <a:srgbClr val="CF3338"/>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The SAFE Framework</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CF3338"/>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SAFE Framework</a:t>
            </a:r>
            <a:endParaRPr lang="en-US" sz="2800" dirty="0"/>
          </a:p>
        </p:txBody>
      </p:sp>
      <p:sp>
        <p:nvSpPr>
          <p:cNvPr id="4" name="Shape 2"/>
          <p:cNvSpPr/>
          <p:nvPr/>
        </p:nvSpPr>
        <p:spPr>
          <a:xfrm>
            <a:off x="457200" y="1005840"/>
            <a:ext cx="2011680" cy="3474720"/>
          </a:xfrm>
          <a:prstGeom prst="rect">
            <a:avLst/>
          </a:prstGeom>
          <a:solidFill>
            <a:srgbClr val="EEECE1"/>
          </a:solidFill>
          <a:ln w="25400">
            <a:solidFill>
              <a:srgbClr val="CF3338"/>
            </a:solidFill>
            <a:prstDash val="solid"/>
          </a:ln>
        </p:spPr>
      </p:sp>
      <p:sp>
        <p:nvSpPr>
          <p:cNvPr id="5" name="Text 3"/>
          <p:cNvSpPr/>
          <p:nvPr/>
        </p:nvSpPr>
        <p:spPr>
          <a:xfrm>
            <a:off x="548640" y="1188720"/>
            <a:ext cx="1828800" cy="457200"/>
          </a:xfrm>
          <a:prstGeom prst="rect">
            <a:avLst/>
          </a:prstGeom>
          <a:noFill/>
          <a:ln/>
        </p:spPr>
        <p:txBody>
          <a:bodyPr wrap="square" rtlCol="0" anchor="ctr"/>
          <a:lstStyle/>
          <a:p>
            <a:pPr algn="ctr" indent="0" marL="0">
              <a:buNone/>
            </a:pPr>
            <a:r>
              <a:rPr lang="en-US" sz="3200" b="1" dirty="0">
                <a:solidFill>
                  <a:srgbClr val="CF3338"/>
                </a:solidFill>
                <a:latin typeface="Arial Black" pitchFamily="34" charset="0"/>
                <a:ea typeface="Arial Black" pitchFamily="34" charset="-122"/>
                <a:cs typeface="Arial Black" pitchFamily="34" charset="-120"/>
              </a:rPr>
              <a:t>S</a:t>
            </a:r>
            <a:endParaRPr lang="en-US" sz="3200" dirty="0"/>
          </a:p>
        </p:txBody>
      </p:sp>
      <p:sp>
        <p:nvSpPr>
          <p:cNvPr id="6" name="Text 4"/>
          <p:cNvSpPr/>
          <p:nvPr/>
        </p:nvSpPr>
        <p:spPr>
          <a:xfrm>
            <a:off x="548640" y="1737360"/>
            <a:ext cx="1828800" cy="548640"/>
          </a:xfrm>
          <a:prstGeom prst="rect">
            <a:avLst/>
          </a:prstGeom>
          <a:noFill/>
          <a:ln/>
        </p:spPr>
        <p:txBody>
          <a:bodyPr wrap="square" rtlCol="0" anchor="ctr"/>
          <a:lstStyle/>
          <a:p>
            <a:pPr algn="ctr" indent="0" marL="0">
              <a:buNone/>
            </a:pPr>
            <a:r>
              <a:rPr lang="en-US" sz="1400" b="1" dirty="0">
                <a:solidFill>
                  <a:srgbClr val="1F2120"/>
                </a:solidFill>
                <a:latin typeface="Arial Black" pitchFamily="34" charset="0"/>
                <a:ea typeface="Arial Black" pitchFamily="34" charset="-122"/>
                <a:cs typeface="Arial Black" pitchFamily="34" charset="-120"/>
              </a:rPr>
              <a:t>Stability</a:t>
            </a:r>
            <a:endParaRPr lang="en-US" sz="1400" dirty="0"/>
          </a:p>
        </p:txBody>
      </p:sp>
      <p:sp>
        <p:nvSpPr>
          <p:cNvPr id="7" name="Text 5"/>
          <p:cNvSpPr/>
          <p:nvPr/>
        </p:nvSpPr>
        <p:spPr>
          <a:xfrm>
            <a:off x="594360" y="2468880"/>
            <a:ext cx="1737360" cy="1645920"/>
          </a:xfrm>
          <a:prstGeom prst="rect">
            <a:avLst/>
          </a:prstGeom>
          <a:noFill/>
          <a:ln/>
        </p:spPr>
        <p:txBody>
          <a:bodyPr wrap="square" rtlCol="0" anchor="ctr"/>
          <a:lstStyle/>
          <a:p>
            <a:pPr algn="ctr" indent="0" marL="0">
              <a:buNone/>
            </a:pPr>
            <a:r>
              <a:rPr lang="en-US" sz="1100" dirty="0">
                <a:solidFill>
                  <a:srgbClr val="1F2120"/>
                </a:solidFill>
              </a:rPr>
              <a:t>How much do the process and rules change?</a:t>
            </a:r>
            <a:endParaRPr lang="en-US" sz="1100" dirty="0"/>
          </a:p>
        </p:txBody>
      </p:sp>
      <p:sp>
        <p:nvSpPr>
          <p:cNvPr id="8" name="Shape 6"/>
          <p:cNvSpPr/>
          <p:nvPr/>
        </p:nvSpPr>
        <p:spPr>
          <a:xfrm>
            <a:off x="2606040" y="1005840"/>
            <a:ext cx="2011680" cy="3474720"/>
          </a:xfrm>
          <a:prstGeom prst="rect">
            <a:avLst/>
          </a:prstGeom>
          <a:solidFill>
            <a:srgbClr val="EEECE1"/>
          </a:solidFill>
          <a:ln w="25400">
            <a:solidFill>
              <a:srgbClr val="CF3338"/>
            </a:solidFill>
            <a:prstDash val="solid"/>
          </a:ln>
        </p:spPr>
      </p:sp>
      <p:sp>
        <p:nvSpPr>
          <p:cNvPr id="9" name="Text 7"/>
          <p:cNvSpPr/>
          <p:nvPr/>
        </p:nvSpPr>
        <p:spPr>
          <a:xfrm>
            <a:off x="2697480" y="1188720"/>
            <a:ext cx="1828800" cy="457200"/>
          </a:xfrm>
          <a:prstGeom prst="rect">
            <a:avLst/>
          </a:prstGeom>
          <a:noFill/>
          <a:ln/>
        </p:spPr>
        <p:txBody>
          <a:bodyPr wrap="square" rtlCol="0" anchor="ctr"/>
          <a:lstStyle/>
          <a:p>
            <a:pPr algn="ctr" indent="0" marL="0">
              <a:buNone/>
            </a:pPr>
            <a:r>
              <a:rPr lang="en-US" sz="3200" b="1" dirty="0">
                <a:solidFill>
                  <a:srgbClr val="CF3338"/>
                </a:solidFill>
                <a:latin typeface="Arial Black" pitchFamily="34" charset="0"/>
                <a:ea typeface="Arial Black" pitchFamily="34" charset="-122"/>
                <a:cs typeface="Arial Black" pitchFamily="34" charset="-120"/>
              </a:rPr>
              <a:t>A</a:t>
            </a:r>
            <a:endParaRPr lang="en-US" sz="3200" dirty="0"/>
          </a:p>
        </p:txBody>
      </p:sp>
      <p:sp>
        <p:nvSpPr>
          <p:cNvPr id="10" name="Text 8"/>
          <p:cNvSpPr/>
          <p:nvPr/>
        </p:nvSpPr>
        <p:spPr>
          <a:xfrm>
            <a:off x="2697480" y="1737360"/>
            <a:ext cx="1828800" cy="548640"/>
          </a:xfrm>
          <a:prstGeom prst="rect">
            <a:avLst/>
          </a:prstGeom>
          <a:noFill/>
          <a:ln/>
        </p:spPr>
        <p:txBody>
          <a:bodyPr wrap="square" rtlCol="0" anchor="ctr"/>
          <a:lstStyle/>
          <a:p>
            <a:pPr algn="ctr" indent="0" marL="0">
              <a:buNone/>
            </a:pPr>
            <a:r>
              <a:rPr lang="en-US" sz="1400" b="1" dirty="0">
                <a:solidFill>
                  <a:srgbClr val="1F2120"/>
                </a:solidFill>
                <a:latin typeface="Arial Black" pitchFamily="34" charset="0"/>
                <a:ea typeface="Arial Black" pitchFamily="34" charset="-122"/>
                <a:cs typeface="Arial Black" pitchFamily="34" charset="-120"/>
              </a:rPr>
              <a:t>Ambiguity</a:t>
            </a:r>
            <a:endParaRPr lang="en-US" sz="1400" dirty="0"/>
          </a:p>
        </p:txBody>
      </p:sp>
      <p:sp>
        <p:nvSpPr>
          <p:cNvPr id="11" name="Text 9"/>
          <p:cNvSpPr/>
          <p:nvPr/>
        </p:nvSpPr>
        <p:spPr>
          <a:xfrm>
            <a:off x="2743200" y="2468880"/>
            <a:ext cx="1737360" cy="1645920"/>
          </a:xfrm>
          <a:prstGeom prst="rect">
            <a:avLst/>
          </a:prstGeom>
          <a:noFill/>
          <a:ln/>
        </p:spPr>
        <p:txBody>
          <a:bodyPr wrap="square" rtlCol="0" anchor="ctr"/>
          <a:lstStyle/>
          <a:p>
            <a:pPr algn="ctr" indent="0" marL="0">
              <a:buNone/>
            </a:pPr>
            <a:r>
              <a:rPr lang="en-US" sz="1100" dirty="0">
                <a:solidFill>
                  <a:srgbClr val="1F2120"/>
                </a:solidFill>
              </a:rPr>
              <a:t>How much judgment is required to do it well?</a:t>
            </a:r>
            <a:endParaRPr lang="en-US" sz="1100" dirty="0"/>
          </a:p>
        </p:txBody>
      </p:sp>
      <p:sp>
        <p:nvSpPr>
          <p:cNvPr id="12" name="Shape 10"/>
          <p:cNvSpPr/>
          <p:nvPr/>
        </p:nvSpPr>
        <p:spPr>
          <a:xfrm>
            <a:off x="4754880" y="1005840"/>
            <a:ext cx="2011680" cy="3474720"/>
          </a:xfrm>
          <a:prstGeom prst="rect">
            <a:avLst/>
          </a:prstGeom>
          <a:solidFill>
            <a:srgbClr val="EEECE1"/>
          </a:solidFill>
          <a:ln w="25400">
            <a:solidFill>
              <a:srgbClr val="CF3338"/>
            </a:solidFill>
            <a:prstDash val="solid"/>
          </a:ln>
        </p:spPr>
      </p:sp>
      <p:sp>
        <p:nvSpPr>
          <p:cNvPr id="13" name="Text 11"/>
          <p:cNvSpPr/>
          <p:nvPr/>
        </p:nvSpPr>
        <p:spPr>
          <a:xfrm>
            <a:off x="4846320" y="1188720"/>
            <a:ext cx="1828800" cy="457200"/>
          </a:xfrm>
          <a:prstGeom prst="rect">
            <a:avLst/>
          </a:prstGeom>
          <a:noFill/>
          <a:ln/>
        </p:spPr>
        <p:txBody>
          <a:bodyPr wrap="square" rtlCol="0" anchor="ctr"/>
          <a:lstStyle/>
          <a:p>
            <a:pPr algn="ctr" indent="0" marL="0">
              <a:buNone/>
            </a:pPr>
            <a:r>
              <a:rPr lang="en-US" sz="3200" b="1" dirty="0">
                <a:solidFill>
                  <a:srgbClr val="CF3338"/>
                </a:solidFill>
                <a:latin typeface="Arial Black" pitchFamily="34" charset="0"/>
                <a:ea typeface="Arial Black" pitchFamily="34" charset="-122"/>
                <a:cs typeface="Arial Black" pitchFamily="34" charset="-120"/>
              </a:rPr>
              <a:t>F</a:t>
            </a:r>
            <a:endParaRPr lang="en-US" sz="3200" dirty="0"/>
          </a:p>
        </p:txBody>
      </p:sp>
      <p:sp>
        <p:nvSpPr>
          <p:cNvPr id="14" name="Text 12"/>
          <p:cNvSpPr/>
          <p:nvPr/>
        </p:nvSpPr>
        <p:spPr>
          <a:xfrm>
            <a:off x="4846320" y="1737360"/>
            <a:ext cx="1828800" cy="548640"/>
          </a:xfrm>
          <a:prstGeom prst="rect">
            <a:avLst/>
          </a:prstGeom>
          <a:noFill/>
          <a:ln/>
        </p:spPr>
        <p:txBody>
          <a:bodyPr wrap="square" rtlCol="0" anchor="ctr"/>
          <a:lstStyle/>
          <a:p>
            <a:pPr algn="ctr" indent="0" marL="0">
              <a:buNone/>
            </a:pPr>
            <a:r>
              <a:rPr lang="en-US" sz="1400" b="1" dirty="0">
                <a:solidFill>
                  <a:srgbClr val="1F2120"/>
                </a:solidFill>
                <a:latin typeface="Arial Black" pitchFamily="34" charset="0"/>
                <a:ea typeface="Arial Black" pitchFamily="34" charset="-122"/>
                <a:cs typeface="Arial Black" pitchFamily="34" charset="-120"/>
              </a:rPr>
              <a:t>Frequency</a:t>
            </a:r>
            <a:endParaRPr lang="en-US" sz="1400" dirty="0"/>
          </a:p>
        </p:txBody>
      </p:sp>
      <p:sp>
        <p:nvSpPr>
          <p:cNvPr id="15" name="Text 13"/>
          <p:cNvSpPr/>
          <p:nvPr/>
        </p:nvSpPr>
        <p:spPr>
          <a:xfrm>
            <a:off x="4892040" y="2468880"/>
            <a:ext cx="1737360" cy="1645920"/>
          </a:xfrm>
          <a:prstGeom prst="rect">
            <a:avLst/>
          </a:prstGeom>
          <a:noFill/>
          <a:ln/>
        </p:spPr>
        <p:txBody>
          <a:bodyPr wrap="square" rtlCol="0" anchor="ctr"/>
          <a:lstStyle/>
          <a:p>
            <a:pPr algn="ctr" indent="0" marL="0">
              <a:buNone/>
            </a:pPr>
            <a:r>
              <a:rPr lang="en-US" sz="1100" dirty="0">
                <a:solidFill>
                  <a:srgbClr val="1F2120"/>
                </a:solidFill>
              </a:rPr>
              <a:t>How often do you perform this task?</a:t>
            </a:r>
            <a:endParaRPr lang="en-US" sz="1100" dirty="0"/>
          </a:p>
        </p:txBody>
      </p:sp>
      <p:sp>
        <p:nvSpPr>
          <p:cNvPr id="16" name="Shape 14"/>
          <p:cNvSpPr/>
          <p:nvPr/>
        </p:nvSpPr>
        <p:spPr>
          <a:xfrm>
            <a:off x="6903720" y="1005840"/>
            <a:ext cx="2011680" cy="3474720"/>
          </a:xfrm>
          <a:prstGeom prst="rect">
            <a:avLst/>
          </a:prstGeom>
          <a:solidFill>
            <a:srgbClr val="EEECE1"/>
          </a:solidFill>
          <a:ln w="25400">
            <a:solidFill>
              <a:srgbClr val="CF3338"/>
            </a:solidFill>
            <a:prstDash val="solid"/>
          </a:ln>
        </p:spPr>
      </p:sp>
      <p:sp>
        <p:nvSpPr>
          <p:cNvPr id="17" name="Text 15"/>
          <p:cNvSpPr/>
          <p:nvPr/>
        </p:nvSpPr>
        <p:spPr>
          <a:xfrm>
            <a:off x="6995160" y="1188720"/>
            <a:ext cx="1828800" cy="457200"/>
          </a:xfrm>
          <a:prstGeom prst="rect">
            <a:avLst/>
          </a:prstGeom>
          <a:noFill/>
          <a:ln/>
        </p:spPr>
        <p:txBody>
          <a:bodyPr wrap="square" rtlCol="0" anchor="ctr"/>
          <a:lstStyle/>
          <a:p>
            <a:pPr algn="ctr" indent="0" marL="0">
              <a:buNone/>
            </a:pPr>
            <a:r>
              <a:rPr lang="en-US" sz="3200" b="1" dirty="0">
                <a:solidFill>
                  <a:srgbClr val="CF3338"/>
                </a:solidFill>
                <a:latin typeface="Arial Black" pitchFamily="34" charset="0"/>
                <a:ea typeface="Arial Black" pitchFamily="34" charset="-122"/>
                <a:cs typeface="Arial Black" pitchFamily="34" charset="-120"/>
              </a:rPr>
              <a:t>E</a:t>
            </a:r>
            <a:endParaRPr lang="en-US" sz="3200" dirty="0"/>
          </a:p>
        </p:txBody>
      </p:sp>
      <p:sp>
        <p:nvSpPr>
          <p:cNvPr id="18" name="Text 16"/>
          <p:cNvSpPr/>
          <p:nvPr/>
        </p:nvSpPr>
        <p:spPr>
          <a:xfrm>
            <a:off x="6995160" y="1737360"/>
            <a:ext cx="1828800" cy="548640"/>
          </a:xfrm>
          <a:prstGeom prst="rect">
            <a:avLst/>
          </a:prstGeom>
          <a:noFill/>
          <a:ln/>
        </p:spPr>
        <p:txBody>
          <a:bodyPr wrap="square" rtlCol="0" anchor="ctr"/>
          <a:lstStyle/>
          <a:p>
            <a:pPr algn="ctr" indent="0" marL="0">
              <a:buNone/>
            </a:pPr>
            <a:r>
              <a:rPr lang="en-US" sz="1400" b="1" dirty="0">
                <a:solidFill>
                  <a:srgbClr val="1F2120"/>
                </a:solidFill>
                <a:latin typeface="Arial Black" pitchFamily="34" charset="0"/>
                <a:ea typeface="Arial Black" pitchFamily="34" charset="-122"/>
                <a:cs typeface="Arial Black" pitchFamily="34" charset="-120"/>
              </a:rPr>
              <a:t>Exposure</a:t>
            </a:r>
            <a:endParaRPr lang="en-US" sz="1400" dirty="0"/>
          </a:p>
        </p:txBody>
      </p:sp>
      <p:sp>
        <p:nvSpPr>
          <p:cNvPr id="19" name="Text 17"/>
          <p:cNvSpPr/>
          <p:nvPr/>
        </p:nvSpPr>
        <p:spPr>
          <a:xfrm>
            <a:off x="7040880" y="2468880"/>
            <a:ext cx="1737360" cy="1645920"/>
          </a:xfrm>
          <a:prstGeom prst="rect">
            <a:avLst/>
          </a:prstGeom>
          <a:noFill/>
          <a:ln/>
        </p:spPr>
        <p:txBody>
          <a:bodyPr wrap="square" rtlCol="0" anchor="ctr"/>
          <a:lstStyle/>
          <a:p>
            <a:pPr algn="ctr" indent="0" marL="0">
              <a:buNone/>
            </a:pPr>
            <a:r>
              <a:rPr lang="en-US" sz="1100" dirty="0">
                <a:solidFill>
                  <a:srgbClr val="1F2120"/>
                </a:solidFill>
              </a:rPr>
              <a:t>How sensitive is the data involved?</a:t>
            </a:r>
            <a:endParaRPr lang="en-US" sz="1100" dirty="0"/>
          </a:p>
        </p:txBody>
      </p:sp>
      <p:sp>
        <p:nvSpPr>
          <p:cNvPr id="20" name="Shape 18"/>
          <p:cNvSpPr/>
          <p:nvPr/>
        </p:nvSpPr>
        <p:spPr>
          <a:xfrm>
            <a:off x="8503920" y="4572000"/>
            <a:ext cx="182880" cy="182880"/>
          </a:xfrm>
          <a:prstGeom prst="triangle">
            <a:avLst/>
          </a:prstGeom>
          <a:solidFill>
            <a:srgbClr val="CF3338"/>
          </a:solidFill>
          <a:ln/>
        </p:spPr>
      </p:sp>
      <p:sp>
        <p:nvSpPr>
          <p:cNvPr id="21" name="Shape 19"/>
          <p:cNvSpPr/>
          <p:nvPr/>
        </p:nvSpPr>
        <p:spPr>
          <a:xfrm>
            <a:off x="8668512" y="4736592"/>
            <a:ext cx="182880" cy="182880"/>
          </a:xfrm>
          <a:prstGeom prst="triangle">
            <a:avLst/>
          </a:prstGeom>
          <a:solidFill>
            <a:srgbClr val="CF3338"/>
          </a:solidFill>
          <a:ln/>
        </p:spPr>
      </p:sp>
      <p:sp>
        <p:nvSpPr>
          <p:cNvPr id="22" name="Shape 20"/>
          <p:cNvSpPr/>
          <p:nvPr/>
        </p:nvSpPr>
        <p:spPr>
          <a:xfrm>
            <a:off x="8833104" y="4901184"/>
            <a:ext cx="182880" cy="182880"/>
          </a:xfrm>
          <a:prstGeom prst="triangle">
            <a:avLst/>
          </a:prstGeom>
          <a:solidFill>
            <a:srgbClr val="CF333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CF3338"/>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Scoring SAFE: Low vs. High</a:t>
            </a:r>
            <a:endParaRPr lang="en-US" sz="2800" dirty="0"/>
          </a:p>
        </p:txBody>
      </p:sp>
      <p:sp>
        <p:nvSpPr>
          <p:cNvPr id="4" name="Text 2"/>
          <p:cNvSpPr/>
          <p:nvPr/>
        </p:nvSpPr>
        <p:spPr>
          <a:xfrm>
            <a:off x="457200" y="1005840"/>
            <a:ext cx="1371600" cy="320040"/>
          </a:xfrm>
          <a:prstGeom prst="rect">
            <a:avLst/>
          </a:prstGeom>
          <a:noFill/>
          <a:ln/>
        </p:spPr>
        <p:txBody>
          <a:bodyPr wrap="square" rtlCol="0" anchor="ctr"/>
          <a:lstStyle/>
          <a:p>
            <a:pPr indent="0" marL="0">
              <a:buNone/>
            </a:pPr>
            <a:r>
              <a:rPr lang="en-US" sz="1100" b="1" dirty="0">
                <a:solidFill>
                  <a:srgbClr val="CF3338"/>
                </a:solidFill>
                <a:latin typeface="Arial Black" pitchFamily="34" charset="0"/>
                <a:ea typeface="Arial Black" pitchFamily="34" charset="-122"/>
                <a:cs typeface="Arial Black" pitchFamily="34" charset="-120"/>
              </a:rPr>
              <a:t>Stability</a:t>
            </a:r>
            <a:endParaRPr lang="en-US" sz="1100" dirty="0"/>
          </a:p>
        </p:txBody>
      </p:sp>
      <p:sp>
        <p:nvSpPr>
          <p:cNvPr id="5" name="Text 3"/>
          <p:cNvSpPr/>
          <p:nvPr/>
        </p:nvSpPr>
        <p:spPr>
          <a:xfrm>
            <a:off x="2011680" y="1005840"/>
            <a:ext cx="3291840" cy="320040"/>
          </a:xfrm>
          <a:prstGeom prst="rect">
            <a:avLst/>
          </a:prstGeom>
          <a:noFill/>
          <a:ln/>
        </p:spPr>
        <p:txBody>
          <a:bodyPr wrap="square" rtlCol="0" anchor="ctr"/>
          <a:lstStyle/>
          <a:p>
            <a:pPr indent="0" marL="0">
              <a:buNone/>
            </a:pPr>
            <a:r>
              <a:rPr lang="en-US" sz="1100" dirty="0">
                <a:solidFill>
                  <a:srgbClr val="1F2120"/>
                </a:solidFill>
              </a:rPr>
              <a:t>Rules change often</a:t>
            </a:r>
            <a:endParaRPr lang="en-US" sz="1100" dirty="0"/>
          </a:p>
        </p:txBody>
      </p:sp>
      <p:sp>
        <p:nvSpPr>
          <p:cNvPr id="6" name="Text 4"/>
          <p:cNvSpPr/>
          <p:nvPr/>
        </p:nvSpPr>
        <p:spPr>
          <a:xfrm>
            <a:off x="5486400" y="1005840"/>
            <a:ext cx="3200400" cy="320040"/>
          </a:xfrm>
          <a:prstGeom prst="rect">
            <a:avLst/>
          </a:prstGeom>
          <a:noFill/>
          <a:ln/>
        </p:spPr>
        <p:txBody>
          <a:bodyPr wrap="square" rtlCol="0" anchor="ctr"/>
          <a:lstStyle/>
          <a:p>
            <a:pPr indent="0" marL="0">
              <a:buNone/>
            </a:pPr>
            <a:r>
              <a:rPr lang="en-US" sz="1100" dirty="0">
                <a:solidFill>
                  <a:srgbClr val="1F2120"/>
                </a:solidFill>
              </a:rPr>
              <a:t>Rules are stable</a:t>
            </a:r>
            <a:endParaRPr lang="en-US" sz="1100" dirty="0"/>
          </a:p>
        </p:txBody>
      </p:sp>
      <p:sp>
        <p:nvSpPr>
          <p:cNvPr id="7" name="Text 5"/>
          <p:cNvSpPr/>
          <p:nvPr/>
        </p:nvSpPr>
        <p:spPr>
          <a:xfrm>
            <a:off x="457200" y="1463040"/>
            <a:ext cx="1371600" cy="320040"/>
          </a:xfrm>
          <a:prstGeom prst="rect">
            <a:avLst/>
          </a:prstGeom>
          <a:noFill/>
          <a:ln/>
        </p:spPr>
        <p:txBody>
          <a:bodyPr wrap="square" rtlCol="0" anchor="ctr"/>
          <a:lstStyle/>
          <a:p>
            <a:pPr indent="0" marL="0">
              <a:buNone/>
            </a:pPr>
            <a:r>
              <a:rPr lang="en-US" sz="1100" b="1" dirty="0">
                <a:solidFill>
                  <a:srgbClr val="CF3338"/>
                </a:solidFill>
                <a:latin typeface="Arial Black" pitchFamily="34" charset="0"/>
                <a:ea typeface="Arial Black" pitchFamily="34" charset="-122"/>
                <a:cs typeface="Arial Black" pitchFamily="34" charset="-120"/>
              </a:rPr>
              <a:t>Ambiguity</a:t>
            </a:r>
            <a:endParaRPr lang="en-US" sz="1100" dirty="0"/>
          </a:p>
        </p:txBody>
      </p:sp>
      <p:sp>
        <p:nvSpPr>
          <p:cNvPr id="8" name="Text 6"/>
          <p:cNvSpPr/>
          <p:nvPr/>
        </p:nvSpPr>
        <p:spPr>
          <a:xfrm>
            <a:off x="2011680" y="1463040"/>
            <a:ext cx="3291840" cy="320040"/>
          </a:xfrm>
          <a:prstGeom prst="rect">
            <a:avLst/>
          </a:prstGeom>
          <a:noFill/>
          <a:ln/>
        </p:spPr>
        <p:txBody>
          <a:bodyPr wrap="square" rtlCol="0" anchor="ctr"/>
          <a:lstStyle/>
          <a:p>
            <a:pPr indent="0" marL="0">
              <a:buNone/>
            </a:pPr>
            <a:r>
              <a:rPr lang="en-US" sz="1100" dirty="0">
                <a:solidFill>
                  <a:srgbClr val="1F2120"/>
                </a:solidFill>
              </a:rPr>
              <a:t>Clear right answer</a:t>
            </a:r>
            <a:endParaRPr lang="en-US" sz="1100" dirty="0"/>
          </a:p>
        </p:txBody>
      </p:sp>
      <p:sp>
        <p:nvSpPr>
          <p:cNvPr id="9" name="Text 7"/>
          <p:cNvSpPr/>
          <p:nvPr/>
        </p:nvSpPr>
        <p:spPr>
          <a:xfrm>
            <a:off x="5486400" y="1463040"/>
            <a:ext cx="3200400" cy="320040"/>
          </a:xfrm>
          <a:prstGeom prst="rect">
            <a:avLst/>
          </a:prstGeom>
          <a:noFill/>
          <a:ln/>
        </p:spPr>
        <p:txBody>
          <a:bodyPr wrap="square" rtlCol="0" anchor="ctr"/>
          <a:lstStyle/>
          <a:p>
            <a:pPr indent="0" marL="0">
              <a:buNone/>
            </a:pPr>
            <a:r>
              <a:rPr lang="en-US" sz="1100" dirty="0">
                <a:solidFill>
                  <a:srgbClr val="1F2120"/>
                </a:solidFill>
              </a:rPr>
              <a:t>Needs human judgment</a:t>
            </a:r>
            <a:endParaRPr lang="en-US" sz="1100" dirty="0"/>
          </a:p>
        </p:txBody>
      </p:sp>
      <p:sp>
        <p:nvSpPr>
          <p:cNvPr id="10" name="Text 8"/>
          <p:cNvSpPr/>
          <p:nvPr/>
        </p:nvSpPr>
        <p:spPr>
          <a:xfrm>
            <a:off x="457200" y="1920240"/>
            <a:ext cx="1371600" cy="320040"/>
          </a:xfrm>
          <a:prstGeom prst="rect">
            <a:avLst/>
          </a:prstGeom>
          <a:noFill/>
          <a:ln/>
        </p:spPr>
        <p:txBody>
          <a:bodyPr wrap="square" rtlCol="0" anchor="ctr"/>
          <a:lstStyle/>
          <a:p>
            <a:pPr indent="0" marL="0">
              <a:buNone/>
            </a:pPr>
            <a:r>
              <a:rPr lang="en-US" sz="1100" b="1" dirty="0">
                <a:solidFill>
                  <a:srgbClr val="CF3338"/>
                </a:solidFill>
                <a:latin typeface="Arial Black" pitchFamily="34" charset="0"/>
                <a:ea typeface="Arial Black" pitchFamily="34" charset="-122"/>
                <a:cs typeface="Arial Black" pitchFamily="34" charset="-120"/>
              </a:rPr>
              <a:t>Frequency</a:t>
            </a:r>
            <a:endParaRPr lang="en-US" sz="1100" dirty="0"/>
          </a:p>
        </p:txBody>
      </p:sp>
      <p:sp>
        <p:nvSpPr>
          <p:cNvPr id="11" name="Text 9"/>
          <p:cNvSpPr/>
          <p:nvPr/>
        </p:nvSpPr>
        <p:spPr>
          <a:xfrm>
            <a:off x="2011680" y="1920240"/>
            <a:ext cx="3291840" cy="320040"/>
          </a:xfrm>
          <a:prstGeom prst="rect">
            <a:avLst/>
          </a:prstGeom>
          <a:noFill/>
          <a:ln/>
        </p:spPr>
        <p:txBody>
          <a:bodyPr wrap="square" rtlCol="0" anchor="ctr"/>
          <a:lstStyle/>
          <a:p>
            <a:pPr indent="0" marL="0">
              <a:buNone/>
            </a:pPr>
            <a:r>
              <a:rPr lang="en-US" sz="1100" dirty="0">
                <a:solidFill>
                  <a:srgbClr val="1F2120"/>
                </a:solidFill>
              </a:rPr>
              <a:t>Rarely done</a:t>
            </a:r>
            <a:endParaRPr lang="en-US" sz="1100" dirty="0"/>
          </a:p>
        </p:txBody>
      </p:sp>
      <p:sp>
        <p:nvSpPr>
          <p:cNvPr id="12" name="Text 10"/>
          <p:cNvSpPr/>
          <p:nvPr/>
        </p:nvSpPr>
        <p:spPr>
          <a:xfrm>
            <a:off x="5486400" y="1920240"/>
            <a:ext cx="3200400" cy="320040"/>
          </a:xfrm>
          <a:prstGeom prst="rect">
            <a:avLst/>
          </a:prstGeom>
          <a:noFill/>
          <a:ln/>
        </p:spPr>
        <p:txBody>
          <a:bodyPr wrap="square" rtlCol="0" anchor="ctr"/>
          <a:lstStyle/>
          <a:p>
            <a:pPr indent="0" marL="0">
              <a:buNone/>
            </a:pPr>
            <a:r>
              <a:rPr lang="en-US" sz="1100" dirty="0">
                <a:solidFill>
                  <a:srgbClr val="1F2120"/>
                </a:solidFill>
              </a:rPr>
              <a:t>Done daily or weekly</a:t>
            </a:r>
            <a:endParaRPr lang="en-US" sz="1100" dirty="0"/>
          </a:p>
        </p:txBody>
      </p:sp>
      <p:sp>
        <p:nvSpPr>
          <p:cNvPr id="13" name="Text 11"/>
          <p:cNvSpPr/>
          <p:nvPr/>
        </p:nvSpPr>
        <p:spPr>
          <a:xfrm>
            <a:off x="457200" y="2377440"/>
            <a:ext cx="1371600" cy="320040"/>
          </a:xfrm>
          <a:prstGeom prst="rect">
            <a:avLst/>
          </a:prstGeom>
          <a:noFill/>
          <a:ln/>
        </p:spPr>
        <p:txBody>
          <a:bodyPr wrap="square" rtlCol="0" anchor="ctr"/>
          <a:lstStyle/>
          <a:p>
            <a:pPr indent="0" marL="0">
              <a:buNone/>
            </a:pPr>
            <a:r>
              <a:rPr lang="en-US" sz="1100" b="1" dirty="0">
                <a:solidFill>
                  <a:srgbClr val="CF3338"/>
                </a:solidFill>
                <a:latin typeface="Arial Black" pitchFamily="34" charset="0"/>
                <a:ea typeface="Arial Black" pitchFamily="34" charset="-122"/>
                <a:cs typeface="Arial Black" pitchFamily="34" charset="-120"/>
              </a:rPr>
              <a:t>Exposure</a:t>
            </a:r>
            <a:endParaRPr lang="en-US" sz="1100" dirty="0"/>
          </a:p>
        </p:txBody>
      </p:sp>
      <p:sp>
        <p:nvSpPr>
          <p:cNvPr id="14" name="Text 12"/>
          <p:cNvSpPr/>
          <p:nvPr/>
        </p:nvSpPr>
        <p:spPr>
          <a:xfrm>
            <a:off x="2011680" y="2377440"/>
            <a:ext cx="3291840" cy="320040"/>
          </a:xfrm>
          <a:prstGeom prst="rect">
            <a:avLst/>
          </a:prstGeom>
          <a:noFill/>
          <a:ln/>
        </p:spPr>
        <p:txBody>
          <a:bodyPr wrap="square" rtlCol="0" anchor="ctr"/>
          <a:lstStyle/>
          <a:p>
            <a:pPr indent="0" marL="0">
              <a:buNone/>
            </a:pPr>
            <a:r>
              <a:rPr lang="en-US" sz="1100" dirty="0">
                <a:solidFill>
                  <a:srgbClr val="1F2120"/>
                </a:solidFill>
              </a:rPr>
              <a:t>Public or internal data</a:t>
            </a:r>
            <a:endParaRPr lang="en-US" sz="1100" dirty="0"/>
          </a:p>
        </p:txBody>
      </p:sp>
      <p:sp>
        <p:nvSpPr>
          <p:cNvPr id="15" name="Text 13"/>
          <p:cNvSpPr/>
          <p:nvPr/>
        </p:nvSpPr>
        <p:spPr>
          <a:xfrm>
            <a:off x="5486400" y="2377440"/>
            <a:ext cx="3200400" cy="320040"/>
          </a:xfrm>
          <a:prstGeom prst="rect">
            <a:avLst/>
          </a:prstGeom>
          <a:noFill/>
          <a:ln/>
        </p:spPr>
        <p:txBody>
          <a:bodyPr wrap="square" rtlCol="0" anchor="ctr"/>
          <a:lstStyle/>
          <a:p>
            <a:pPr indent="0" marL="0">
              <a:buNone/>
            </a:pPr>
            <a:r>
              <a:rPr lang="en-US" sz="1100" dirty="0">
                <a:solidFill>
                  <a:srgbClr val="1F2120"/>
                </a:solidFill>
              </a:rPr>
              <a:t>PII, financial, regulated</a:t>
            </a:r>
            <a:endParaRPr lang="en-US" sz="1100" dirty="0"/>
          </a:p>
        </p:txBody>
      </p:sp>
      <p:sp>
        <p:nvSpPr>
          <p:cNvPr id="16" name="Text 14"/>
          <p:cNvSpPr/>
          <p:nvPr/>
        </p:nvSpPr>
        <p:spPr>
          <a:xfrm>
            <a:off x="457200" y="3200400"/>
            <a:ext cx="8229600" cy="1097280"/>
          </a:xfrm>
          <a:prstGeom prst="rect">
            <a:avLst/>
          </a:prstGeom>
          <a:noFill/>
          <a:ln/>
        </p:spPr>
        <p:txBody>
          <a:bodyPr wrap="square" rtlCol="0" anchor="ctr"/>
          <a:lstStyle/>
          <a:p>
            <a:pPr algn="l" indent="0" marL="0">
              <a:buNone/>
            </a:pPr>
            <a:r>
              <a:rPr lang="en-US" sz="1200" dirty="0">
                <a:solidFill>
                  <a:srgbClr val="1F2120"/>
                </a:solidFill>
              </a:rPr>
              <a:t>When you're scoring a task, think about where it lands on each scale. There's no single "right" answer—it's about understanding your task and being honest about where it sits.</a:t>
            </a:r>
            <a:endParaRPr lang="en-US" sz="1200" dirty="0"/>
          </a:p>
        </p:txBody>
      </p:sp>
      <p:sp>
        <p:nvSpPr>
          <p:cNvPr id="17" name="Shape 15"/>
          <p:cNvSpPr/>
          <p:nvPr/>
        </p:nvSpPr>
        <p:spPr>
          <a:xfrm>
            <a:off x="457200" y="4389120"/>
            <a:ext cx="8229600" cy="548640"/>
          </a:xfrm>
          <a:prstGeom prst="rect">
            <a:avLst/>
          </a:prstGeom>
          <a:solidFill>
            <a:srgbClr val="CF3338"/>
          </a:solidFill>
          <a:ln/>
        </p:spPr>
      </p:sp>
      <p:sp>
        <p:nvSpPr>
          <p:cNvPr id="18" name="Text 16"/>
          <p:cNvSpPr/>
          <p:nvPr/>
        </p:nvSpPr>
        <p:spPr>
          <a:xfrm>
            <a:off x="640080" y="4434840"/>
            <a:ext cx="7863840" cy="457200"/>
          </a:xfrm>
          <a:prstGeom prst="rect">
            <a:avLst/>
          </a:prstGeom>
          <a:noFill/>
          <a:ln/>
        </p:spPr>
        <p:txBody>
          <a:bodyPr wrap="square" rtlCol="0" anchor="ctr"/>
          <a:lstStyle/>
          <a:p>
            <a:pPr algn="ctr" indent="0" marL="0">
              <a:buNone/>
            </a:pPr>
            <a:r>
              <a:rPr lang="en-US" sz="1100" b="1" dirty="0">
                <a:solidFill>
                  <a:srgbClr val="FFFFFF"/>
                </a:solidFill>
              </a:rPr>
              <a:t>Good news: Most tasks are NOT at extremes—you'll usually score somewhere in the middle on most dimensions.</a:t>
            </a:r>
            <a:endParaRPr lang="en-US" sz="1100" dirty="0"/>
          </a:p>
        </p:txBody>
      </p:sp>
      <p:sp>
        <p:nvSpPr>
          <p:cNvPr id="19" name="Shape 17"/>
          <p:cNvSpPr/>
          <p:nvPr/>
        </p:nvSpPr>
        <p:spPr>
          <a:xfrm>
            <a:off x="8503920" y="4572000"/>
            <a:ext cx="182880" cy="182880"/>
          </a:xfrm>
          <a:prstGeom prst="triangle">
            <a:avLst/>
          </a:prstGeom>
          <a:solidFill>
            <a:srgbClr val="CF3338"/>
          </a:solidFill>
          <a:ln/>
        </p:spPr>
      </p:sp>
      <p:sp>
        <p:nvSpPr>
          <p:cNvPr id="20" name="Shape 18"/>
          <p:cNvSpPr/>
          <p:nvPr/>
        </p:nvSpPr>
        <p:spPr>
          <a:xfrm>
            <a:off x="8668512" y="4736592"/>
            <a:ext cx="182880" cy="182880"/>
          </a:xfrm>
          <a:prstGeom prst="triangle">
            <a:avLst/>
          </a:prstGeom>
          <a:solidFill>
            <a:srgbClr val="CF3338"/>
          </a:solidFill>
          <a:ln/>
        </p:spPr>
      </p:sp>
      <p:sp>
        <p:nvSpPr>
          <p:cNvPr id="21" name="Shape 19"/>
          <p:cNvSpPr/>
          <p:nvPr/>
        </p:nvSpPr>
        <p:spPr>
          <a:xfrm>
            <a:off x="8833104" y="4901184"/>
            <a:ext cx="182880" cy="182880"/>
          </a:xfrm>
          <a:prstGeom prst="triangle">
            <a:avLst/>
          </a:prstGeom>
          <a:solidFill>
            <a:srgbClr val="CF3338"/>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CF3338"/>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SAFE in Action: Three Examples</a:t>
            </a:r>
            <a:endParaRPr lang="en-US" sz="2800" dirty="0"/>
          </a:p>
        </p:txBody>
      </p:sp>
      <p:sp>
        <p:nvSpPr>
          <p:cNvPr id="4" name="Shape 2"/>
          <p:cNvSpPr/>
          <p:nvPr/>
        </p:nvSpPr>
        <p:spPr>
          <a:xfrm>
            <a:off x="457200" y="1005840"/>
            <a:ext cx="8229600" cy="822960"/>
          </a:xfrm>
          <a:prstGeom prst="rect">
            <a:avLst/>
          </a:prstGeom>
          <a:solidFill>
            <a:srgbClr val="EEECE1"/>
          </a:solidFill>
          <a:ln w="12700">
            <a:solidFill>
              <a:srgbClr val="707070"/>
            </a:solidFill>
            <a:prstDash val="solid"/>
          </a:ln>
        </p:spPr>
      </p:sp>
      <p:sp>
        <p:nvSpPr>
          <p:cNvPr id="5" name="Text 3"/>
          <p:cNvSpPr/>
          <p:nvPr/>
        </p:nvSpPr>
        <p:spPr>
          <a:xfrm>
            <a:off x="640080" y="1097280"/>
            <a:ext cx="3657600" cy="32004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Monthly Close Reporting</a:t>
            </a:r>
            <a:endParaRPr lang="en-US" sz="1300" dirty="0"/>
          </a:p>
        </p:txBody>
      </p:sp>
      <p:sp>
        <p:nvSpPr>
          <p:cNvPr id="6" name="Text 4"/>
          <p:cNvSpPr/>
          <p:nvPr/>
        </p:nvSpPr>
        <p:spPr>
          <a:xfrm>
            <a:off x="640080" y="1417320"/>
            <a:ext cx="7863840" cy="320040"/>
          </a:xfrm>
          <a:prstGeom prst="rect">
            <a:avLst/>
          </a:prstGeom>
          <a:noFill/>
          <a:ln/>
        </p:spPr>
        <p:txBody>
          <a:bodyPr wrap="square" rtlCol="0" anchor="ctr"/>
          <a:lstStyle/>
          <a:p>
            <a:pPr indent="0" marL="0">
              <a:buNone/>
            </a:pPr>
            <a:r>
              <a:rPr lang="en-US" sz="1100" dirty="0">
                <a:solidFill>
                  <a:srgbClr val="1F2120"/>
                </a:solidFill>
              </a:rPr>
              <a:t>S: High | A: Low | F: High | E: Medium</a:t>
            </a:r>
            <a:endParaRPr lang="en-US" sz="1100" dirty="0"/>
          </a:p>
        </p:txBody>
      </p:sp>
      <p:sp>
        <p:nvSpPr>
          <p:cNvPr id="7" name="Shape 5"/>
          <p:cNvSpPr/>
          <p:nvPr/>
        </p:nvSpPr>
        <p:spPr>
          <a:xfrm>
            <a:off x="457200" y="2011680"/>
            <a:ext cx="8229600" cy="822960"/>
          </a:xfrm>
          <a:prstGeom prst="rect">
            <a:avLst/>
          </a:prstGeom>
          <a:solidFill>
            <a:srgbClr val="EEECE1"/>
          </a:solidFill>
          <a:ln w="12700">
            <a:solidFill>
              <a:srgbClr val="707070"/>
            </a:solidFill>
            <a:prstDash val="solid"/>
          </a:ln>
        </p:spPr>
      </p:sp>
      <p:sp>
        <p:nvSpPr>
          <p:cNvPr id="8" name="Text 6"/>
          <p:cNvSpPr/>
          <p:nvPr/>
        </p:nvSpPr>
        <p:spPr>
          <a:xfrm>
            <a:off x="640080" y="2103120"/>
            <a:ext cx="3657600" cy="32004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Ad Hoc Executive Analysis</a:t>
            </a:r>
            <a:endParaRPr lang="en-US" sz="1300" dirty="0"/>
          </a:p>
        </p:txBody>
      </p:sp>
      <p:sp>
        <p:nvSpPr>
          <p:cNvPr id="9" name="Text 7"/>
          <p:cNvSpPr/>
          <p:nvPr/>
        </p:nvSpPr>
        <p:spPr>
          <a:xfrm>
            <a:off x="640080" y="2423160"/>
            <a:ext cx="7863840" cy="320040"/>
          </a:xfrm>
          <a:prstGeom prst="rect">
            <a:avLst/>
          </a:prstGeom>
          <a:noFill/>
          <a:ln/>
        </p:spPr>
        <p:txBody>
          <a:bodyPr wrap="square" rtlCol="0" anchor="ctr"/>
          <a:lstStyle/>
          <a:p>
            <a:pPr indent="0" marL="0">
              <a:buNone/>
            </a:pPr>
            <a:r>
              <a:rPr lang="en-US" sz="1100" dirty="0">
                <a:solidFill>
                  <a:srgbClr val="1F2120"/>
                </a:solidFill>
              </a:rPr>
              <a:t>S: Low | A: High | F: Low | E: High</a:t>
            </a:r>
            <a:endParaRPr lang="en-US" sz="1100" dirty="0"/>
          </a:p>
        </p:txBody>
      </p:sp>
      <p:sp>
        <p:nvSpPr>
          <p:cNvPr id="10" name="Shape 8"/>
          <p:cNvSpPr/>
          <p:nvPr/>
        </p:nvSpPr>
        <p:spPr>
          <a:xfrm>
            <a:off x="457200" y="3017520"/>
            <a:ext cx="8229600" cy="822960"/>
          </a:xfrm>
          <a:prstGeom prst="rect">
            <a:avLst/>
          </a:prstGeom>
          <a:solidFill>
            <a:srgbClr val="EEECE1"/>
          </a:solidFill>
          <a:ln w="12700">
            <a:solidFill>
              <a:srgbClr val="707070"/>
            </a:solidFill>
            <a:prstDash val="solid"/>
          </a:ln>
        </p:spPr>
      </p:sp>
      <p:sp>
        <p:nvSpPr>
          <p:cNvPr id="11" name="Text 9"/>
          <p:cNvSpPr/>
          <p:nvPr/>
        </p:nvSpPr>
        <p:spPr>
          <a:xfrm>
            <a:off x="640080" y="3108960"/>
            <a:ext cx="3657600" cy="32004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Data Cleaning &amp; Formatting</a:t>
            </a:r>
            <a:endParaRPr lang="en-US" sz="1300" dirty="0"/>
          </a:p>
        </p:txBody>
      </p:sp>
      <p:sp>
        <p:nvSpPr>
          <p:cNvPr id="12" name="Text 10"/>
          <p:cNvSpPr/>
          <p:nvPr/>
        </p:nvSpPr>
        <p:spPr>
          <a:xfrm>
            <a:off x="640080" y="3429000"/>
            <a:ext cx="7863840" cy="320040"/>
          </a:xfrm>
          <a:prstGeom prst="rect">
            <a:avLst/>
          </a:prstGeom>
          <a:noFill/>
          <a:ln/>
        </p:spPr>
        <p:txBody>
          <a:bodyPr wrap="square" rtlCol="0" anchor="ctr"/>
          <a:lstStyle/>
          <a:p>
            <a:pPr indent="0" marL="0">
              <a:buNone/>
            </a:pPr>
            <a:r>
              <a:rPr lang="en-US" sz="1100" dirty="0">
                <a:solidFill>
                  <a:srgbClr val="1F2120"/>
                </a:solidFill>
              </a:rPr>
              <a:t>S: High | A: Low | F: High | E: Low</a:t>
            </a:r>
            <a:endParaRPr lang="en-US" sz="1100" dirty="0"/>
          </a:p>
        </p:txBody>
      </p:sp>
      <p:sp>
        <p:nvSpPr>
          <p:cNvPr id="13" name="Text 11"/>
          <p:cNvSpPr/>
          <p:nvPr/>
        </p:nvSpPr>
        <p:spPr>
          <a:xfrm>
            <a:off x="457200" y="4114800"/>
            <a:ext cx="8229600" cy="822960"/>
          </a:xfrm>
          <a:prstGeom prst="rect">
            <a:avLst/>
          </a:prstGeom>
          <a:noFill/>
          <a:ln/>
        </p:spPr>
        <p:txBody>
          <a:bodyPr wrap="square" rtlCol="0" anchor="ctr"/>
          <a:lstStyle/>
          <a:p>
            <a:pPr indent="0" marL="0">
              <a:buNone/>
            </a:pPr>
            <a:r>
              <a:rPr lang="en-US" sz="1200" dirty="0">
                <a:solidFill>
                  <a:srgbClr val="1F2120"/>
                </a:solidFill>
              </a:rPr>
              <a:t>Notice the pattern: the first two tasks are AI-ready in different ways. The third is almost perfect for AI. Why? High stability means the rules stay the same. Low ambiguity means there's a clear right way to do it. High frequency means the payoff is big. And low exposure means the data sensitivity is manageable.</a:t>
            </a:r>
            <a:endParaRPr lang="en-US" sz="1200" dirty="0"/>
          </a:p>
        </p:txBody>
      </p:sp>
      <p:sp>
        <p:nvSpPr>
          <p:cNvPr id="14" name="Shape 12"/>
          <p:cNvSpPr/>
          <p:nvPr/>
        </p:nvSpPr>
        <p:spPr>
          <a:xfrm>
            <a:off x="8503920" y="4572000"/>
            <a:ext cx="182880" cy="182880"/>
          </a:xfrm>
          <a:prstGeom prst="triangle">
            <a:avLst/>
          </a:prstGeom>
          <a:solidFill>
            <a:srgbClr val="CF3338"/>
          </a:solidFill>
          <a:ln/>
        </p:spPr>
      </p:sp>
      <p:sp>
        <p:nvSpPr>
          <p:cNvPr id="15" name="Shape 13"/>
          <p:cNvSpPr/>
          <p:nvPr/>
        </p:nvSpPr>
        <p:spPr>
          <a:xfrm>
            <a:off x="8668512" y="4736592"/>
            <a:ext cx="182880" cy="182880"/>
          </a:xfrm>
          <a:prstGeom prst="triangle">
            <a:avLst/>
          </a:prstGeom>
          <a:solidFill>
            <a:srgbClr val="CF3338"/>
          </a:solidFill>
          <a:ln/>
        </p:spPr>
      </p:sp>
      <p:sp>
        <p:nvSpPr>
          <p:cNvPr id="16" name="Shape 14"/>
          <p:cNvSpPr/>
          <p:nvPr/>
        </p:nvSpPr>
        <p:spPr>
          <a:xfrm>
            <a:off x="8833104" y="4901184"/>
            <a:ext cx="182880" cy="182880"/>
          </a:xfrm>
          <a:prstGeom prst="triangle">
            <a:avLst/>
          </a:prstGeom>
          <a:solidFill>
            <a:srgbClr val="CF3338"/>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The Stability × Ambiguity Matrix</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Stability × Ambiguity 2×2 Matrix</a:t>
            </a:r>
            <a:endParaRPr lang="en-US" sz="2800" dirty="0"/>
          </a:p>
        </p:txBody>
      </p:sp>
      <p:sp>
        <p:nvSpPr>
          <p:cNvPr id="4" name="Shape 2"/>
          <p:cNvSpPr/>
          <p:nvPr/>
        </p:nvSpPr>
        <p:spPr>
          <a:xfrm>
            <a:off x="1371600" y="2514600"/>
            <a:ext cx="3200400" cy="0"/>
          </a:xfrm>
          <a:prstGeom prst="line">
            <a:avLst/>
          </a:prstGeom>
          <a:noFill/>
          <a:ln w="25400">
            <a:solidFill>
              <a:srgbClr val="1F2120"/>
            </a:solidFill>
            <a:prstDash val="solid"/>
          </a:ln>
        </p:spPr>
      </p:sp>
      <p:sp>
        <p:nvSpPr>
          <p:cNvPr id="5" name="Shape 3"/>
          <p:cNvSpPr/>
          <p:nvPr/>
        </p:nvSpPr>
        <p:spPr>
          <a:xfrm>
            <a:off x="2971800" y="914400"/>
            <a:ext cx="0" cy="3200400"/>
          </a:xfrm>
          <a:prstGeom prst="line">
            <a:avLst/>
          </a:prstGeom>
          <a:noFill/>
          <a:ln w="25400">
            <a:solidFill>
              <a:srgbClr val="1F2120"/>
            </a:solidFill>
            <a:prstDash val="solid"/>
          </a:ln>
        </p:spPr>
      </p:sp>
      <p:sp>
        <p:nvSpPr>
          <p:cNvPr id="6" name="Shape 4"/>
          <p:cNvSpPr/>
          <p:nvPr/>
        </p:nvSpPr>
        <p:spPr>
          <a:xfrm>
            <a:off x="1371600" y="914400"/>
            <a:ext cx="1600200" cy="1600200"/>
          </a:xfrm>
          <a:prstGeom prst="rect">
            <a:avLst/>
          </a:prstGeom>
          <a:solidFill>
            <a:srgbClr val="CF3338"/>
          </a:solidFill>
          <a:ln/>
        </p:spPr>
      </p:sp>
      <p:sp>
        <p:nvSpPr>
          <p:cNvPr id="7" name="Text 5"/>
          <p:cNvSpPr/>
          <p:nvPr/>
        </p:nvSpPr>
        <p:spPr>
          <a:xfrm>
            <a:off x="1463040" y="1143000"/>
            <a:ext cx="1417320" cy="36576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AI SWEET SPOT</a:t>
            </a:r>
            <a:endParaRPr lang="en-US" sz="1300" dirty="0"/>
          </a:p>
        </p:txBody>
      </p:sp>
      <p:sp>
        <p:nvSpPr>
          <p:cNvPr id="8" name="Text 6"/>
          <p:cNvSpPr/>
          <p:nvPr/>
        </p:nvSpPr>
        <p:spPr>
          <a:xfrm>
            <a:off x="1463040" y="1554480"/>
            <a:ext cx="1417320" cy="457200"/>
          </a:xfrm>
          <a:prstGeom prst="rect">
            <a:avLst/>
          </a:prstGeom>
          <a:noFill/>
          <a:ln/>
        </p:spPr>
        <p:txBody>
          <a:bodyPr wrap="square" rtlCol="0" anchor="ctr"/>
          <a:lstStyle/>
          <a:p>
            <a:pPr algn="ctr" indent="0" marL="0">
              <a:buNone/>
            </a:pPr>
            <a:r>
              <a:rPr lang="en-US" sz="1000" dirty="0">
                <a:solidFill>
                  <a:srgbClr val="FFFFFF"/>
                </a:solidFill>
              </a:rPr>
              <a:t>AI thrives here</a:t>
            </a:r>
            <a:endParaRPr lang="en-US" sz="1000" dirty="0"/>
          </a:p>
        </p:txBody>
      </p:sp>
      <p:sp>
        <p:nvSpPr>
          <p:cNvPr id="9" name="Shape 7"/>
          <p:cNvSpPr/>
          <p:nvPr/>
        </p:nvSpPr>
        <p:spPr>
          <a:xfrm>
            <a:off x="2971800" y="914400"/>
            <a:ext cx="1600200" cy="1600200"/>
          </a:xfrm>
          <a:prstGeom prst="rect">
            <a:avLst/>
          </a:prstGeom>
          <a:solidFill>
            <a:srgbClr val="707070"/>
          </a:solidFill>
          <a:ln/>
        </p:spPr>
      </p:sp>
      <p:sp>
        <p:nvSpPr>
          <p:cNvPr id="10" name="Text 8"/>
          <p:cNvSpPr/>
          <p:nvPr/>
        </p:nvSpPr>
        <p:spPr>
          <a:xfrm>
            <a:off x="3063240" y="1143000"/>
            <a:ext cx="1417320" cy="365760"/>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RULES MUST HOLD</a:t>
            </a:r>
            <a:endParaRPr lang="en-US" sz="1200" dirty="0"/>
          </a:p>
        </p:txBody>
      </p:sp>
      <p:sp>
        <p:nvSpPr>
          <p:cNvPr id="11" name="Text 9"/>
          <p:cNvSpPr/>
          <p:nvPr/>
        </p:nvSpPr>
        <p:spPr>
          <a:xfrm>
            <a:off x="3063240" y="1554480"/>
            <a:ext cx="1417320" cy="457200"/>
          </a:xfrm>
          <a:prstGeom prst="rect">
            <a:avLst/>
          </a:prstGeom>
          <a:noFill/>
          <a:ln/>
        </p:spPr>
        <p:txBody>
          <a:bodyPr wrap="square" rtlCol="0" anchor="ctr"/>
          <a:lstStyle/>
          <a:p>
            <a:pPr algn="ctr" indent="0" marL="0">
              <a:buNone/>
            </a:pPr>
            <a:r>
              <a:rPr lang="en-US" sz="900" dirty="0">
                <a:solidFill>
                  <a:srgbClr val="FFFFFF"/>
                </a:solidFill>
              </a:rPr>
              <a:t>AI assists, humans verify</a:t>
            </a:r>
            <a:endParaRPr lang="en-US" sz="900" dirty="0"/>
          </a:p>
        </p:txBody>
      </p:sp>
      <p:sp>
        <p:nvSpPr>
          <p:cNvPr id="12" name="Shape 10"/>
          <p:cNvSpPr/>
          <p:nvPr/>
        </p:nvSpPr>
        <p:spPr>
          <a:xfrm>
            <a:off x="1371600" y="2514600"/>
            <a:ext cx="1600200" cy="1600200"/>
          </a:xfrm>
          <a:prstGeom prst="rect">
            <a:avLst/>
          </a:prstGeom>
          <a:solidFill>
            <a:srgbClr val="EEECE1"/>
          </a:solidFill>
          <a:ln w="12700">
            <a:solidFill>
              <a:srgbClr val="707070"/>
            </a:solidFill>
            <a:prstDash val="solid"/>
          </a:ln>
        </p:spPr>
      </p:sp>
      <p:sp>
        <p:nvSpPr>
          <p:cNvPr id="13" name="Text 11"/>
          <p:cNvSpPr/>
          <p:nvPr/>
        </p:nvSpPr>
        <p:spPr>
          <a:xfrm>
            <a:off x="1463040" y="2743200"/>
            <a:ext cx="1417320" cy="365760"/>
          </a:xfrm>
          <a:prstGeom prst="rect">
            <a:avLst/>
          </a:prstGeom>
          <a:noFill/>
          <a:ln/>
        </p:spPr>
        <p:txBody>
          <a:bodyPr wrap="square" rtlCol="0" anchor="ctr"/>
          <a:lstStyle/>
          <a:p>
            <a:pPr algn="ctr" indent="0" marL="0">
              <a:buNone/>
            </a:pPr>
            <a:r>
              <a:rPr lang="en-US" sz="1200" b="1" dirty="0">
                <a:solidFill>
                  <a:srgbClr val="1F2120"/>
                </a:solidFill>
                <a:latin typeface="Arial Black" pitchFamily="34" charset="0"/>
                <a:ea typeface="Arial Black" pitchFamily="34" charset="-122"/>
                <a:cs typeface="Arial Black" pitchFamily="34" charset="-120"/>
              </a:rPr>
              <a:t>CONVENIENCE ZONE</a:t>
            </a:r>
            <a:endParaRPr lang="en-US" sz="1200" dirty="0"/>
          </a:p>
        </p:txBody>
      </p:sp>
      <p:sp>
        <p:nvSpPr>
          <p:cNvPr id="14" name="Text 12"/>
          <p:cNvSpPr/>
          <p:nvPr/>
        </p:nvSpPr>
        <p:spPr>
          <a:xfrm>
            <a:off x="1463040" y="3154680"/>
            <a:ext cx="1417320" cy="457200"/>
          </a:xfrm>
          <a:prstGeom prst="rect">
            <a:avLst/>
          </a:prstGeom>
          <a:noFill/>
          <a:ln/>
        </p:spPr>
        <p:txBody>
          <a:bodyPr wrap="square" rtlCol="0" anchor="ctr"/>
          <a:lstStyle/>
          <a:p>
            <a:pPr algn="ctr" indent="0" marL="0">
              <a:buNone/>
            </a:pPr>
            <a:r>
              <a:rPr lang="en-US" sz="900" dirty="0">
                <a:solidFill>
                  <a:srgbClr val="1F2120"/>
                </a:solidFill>
              </a:rPr>
              <a:t>AI saves time, needs updating</a:t>
            </a:r>
            <a:endParaRPr lang="en-US" sz="900" dirty="0"/>
          </a:p>
        </p:txBody>
      </p:sp>
      <p:sp>
        <p:nvSpPr>
          <p:cNvPr id="15" name="Shape 13"/>
          <p:cNvSpPr/>
          <p:nvPr/>
        </p:nvSpPr>
        <p:spPr>
          <a:xfrm>
            <a:off x="2971800" y="2514600"/>
            <a:ext cx="1600200" cy="1600200"/>
          </a:xfrm>
          <a:prstGeom prst="rect">
            <a:avLst/>
          </a:prstGeom>
          <a:solidFill>
            <a:srgbClr val="EEECE1"/>
          </a:solidFill>
          <a:ln w="12700">
            <a:solidFill>
              <a:srgbClr val="707070"/>
            </a:solidFill>
            <a:prstDash val="solid"/>
          </a:ln>
        </p:spPr>
      </p:sp>
      <p:sp>
        <p:nvSpPr>
          <p:cNvPr id="16" name="Text 14"/>
          <p:cNvSpPr/>
          <p:nvPr/>
        </p:nvSpPr>
        <p:spPr>
          <a:xfrm>
            <a:off x="3063240" y="2743200"/>
            <a:ext cx="1417320" cy="365760"/>
          </a:xfrm>
          <a:prstGeom prst="rect">
            <a:avLst/>
          </a:prstGeom>
          <a:noFill/>
          <a:ln/>
        </p:spPr>
        <p:txBody>
          <a:bodyPr wrap="square" rtlCol="0" anchor="ctr"/>
          <a:lstStyle/>
          <a:p>
            <a:pPr algn="ctr" indent="0" marL="0">
              <a:buNone/>
            </a:pPr>
            <a:r>
              <a:rPr lang="en-US" sz="1200" b="1" dirty="0">
                <a:solidFill>
                  <a:srgbClr val="1F2120"/>
                </a:solidFill>
                <a:latin typeface="Arial Black" pitchFamily="34" charset="0"/>
                <a:ea typeface="Arial Black" pitchFamily="34" charset="-122"/>
                <a:cs typeface="Arial Black" pitchFamily="34" charset="-120"/>
              </a:rPr>
              <a:t>JUDGMENT ZONE</a:t>
            </a:r>
            <a:endParaRPr lang="en-US" sz="1200" dirty="0"/>
          </a:p>
        </p:txBody>
      </p:sp>
      <p:sp>
        <p:nvSpPr>
          <p:cNvPr id="17" name="Text 15"/>
          <p:cNvSpPr/>
          <p:nvPr/>
        </p:nvSpPr>
        <p:spPr>
          <a:xfrm>
            <a:off x="3063240" y="3154680"/>
            <a:ext cx="1417320" cy="457200"/>
          </a:xfrm>
          <a:prstGeom prst="rect">
            <a:avLst/>
          </a:prstGeom>
          <a:noFill/>
          <a:ln/>
        </p:spPr>
        <p:txBody>
          <a:bodyPr wrap="square" rtlCol="0" anchor="ctr"/>
          <a:lstStyle/>
          <a:p>
            <a:pPr algn="ctr" indent="0" marL="0">
              <a:buNone/>
            </a:pPr>
            <a:r>
              <a:rPr lang="en-US" sz="900" dirty="0">
                <a:solidFill>
                  <a:srgbClr val="1F2120"/>
                </a:solidFill>
              </a:rPr>
              <a:t>Human-led, AI optional</a:t>
            </a:r>
            <a:endParaRPr lang="en-US" sz="900" dirty="0"/>
          </a:p>
        </p:txBody>
      </p:sp>
      <p:sp>
        <p:nvSpPr>
          <p:cNvPr id="18" name="Text 16"/>
          <p:cNvSpPr/>
          <p:nvPr/>
        </p:nvSpPr>
        <p:spPr>
          <a:xfrm>
            <a:off x="1005840" y="2377440"/>
            <a:ext cx="274320" cy="274320"/>
          </a:xfrm>
          <a:prstGeom prst="rect">
            <a:avLst/>
          </a:prstGeom>
          <a:noFill/>
          <a:ln/>
        </p:spPr>
        <p:txBody>
          <a:bodyPr wrap="square" rtlCol="0" anchor="ctr"/>
          <a:lstStyle/>
          <a:p>
            <a:pPr indent="0" marL="0">
              <a:buNone/>
            </a:pPr>
            <a:r>
              <a:rPr lang="en-US" sz="1000" b="1" dirty="0">
                <a:solidFill>
                  <a:srgbClr val="1F2120"/>
                </a:solidFill>
              </a:rPr>
              <a:t>Low</a:t>
            </a:r>
            <a:endParaRPr lang="en-US" sz="1000" dirty="0"/>
          </a:p>
        </p:txBody>
      </p:sp>
      <p:sp>
        <p:nvSpPr>
          <p:cNvPr id="19" name="Text 17"/>
          <p:cNvSpPr/>
          <p:nvPr/>
        </p:nvSpPr>
        <p:spPr>
          <a:xfrm>
            <a:off x="1005840" y="685800"/>
            <a:ext cx="274320" cy="274320"/>
          </a:xfrm>
          <a:prstGeom prst="rect">
            <a:avLst/>
          </a:prstGeom>
          <a:noFill/>
          <a:ln/>
        </p:spPr>
        <p:txBody>
          <a:bodyPr wrap="square" rtlCol="0" anchor="ctr"/>
          <a:lstStyle/>
          <a:p>
            <a:pPr indent="0" marL="0">
              <a:buNone/>
            </a:pPr>
            <a:r>
              <a:rPr lang="en-US" sz="1000" b="1" dirty="0">
                <a:solidFill>
                  <a:srgbClr val="1F2120"/>
                </a:solidFill>
              </a:rPr>
              <a:t>High</a:t>
            </a:r>
            <a:endParaRPr lang="en-US" sz="1000" dirty="0"/>
          </a:p>
        </p:txBody>
      </p:sp>
      <p:sp>
        <p:nvSpPr>
          <p:cNvPr id="20" name="Text 18"/>
          <p:cNvSpPr/>
          <p:nvPr/>
        </p:nvSpPr>
        <p:spPr>
          <a:xfrm>
            <a:off x="2834640" y="4297680"/>
            <a:ext cx="274320" cy="274320"/>
          </a:xfrm>
          <a:prstGeom prst="rect">
            <a:avLst/>
          </a:prstGeom>
          <a:noFill/>
          <a:ln/>
        </p:spPr>
        <p:txBody>
          <a:bodyPr wrap="square" rtlCol="0" anchor="ctr"/>
          <a:lstStyle/>
          <a:p>
            <a:pPr indent="0" marL="0">
              <a:buNone/>
            </a:pPr>
            <a:r>
              <a:rPr lang="en-US" sz="1000" b="1" dirty="0">
                <a:solidFill>
                  <a:srgbClr val="1F2120"/>
                </a:solidFill>
              </a:rPr>
              <a:t>Low</a:t>
            </a:r>
            <a:endParaRPr lang="en-US" sz="1000" dirty="0"/>
          </a:p>
        </p:txBody>
      </p:sp>
      <p:sp>
        <p:nvSpPr>
          <p:cNvPr id="21" name="Text 19"/>
          <p:cNvSpPr/>
          <p:nvPr/>
        </p:nvSpPr>
        <p:spPr>
          <a:xfrm>
            <a:off x="4297680" y="4297680"/>
            <a:ext cx="274320" cy="274320"/>
          </a:xfrm>
          <a:prstGeom prst="rect">
            <a:avLst/>
          </a:prstGeom>
          <a:noFill/>
          <a:ln/>
        </p:spPr>
        <p:txBody>
          <a:bodyPr wrap="square" rtlCol="0" anchor="ctr"/>
          <a:lstStyle/>
          <a:p>
            <a:pPr indent="0" marL="0">
              <a:buNone/>
            </a:pPr>
            <a:r>
              <a:rPr lang="en-US" sz="1000" b="1" dirty="0">
                <a:solidFill>
                  <a:srgbClr val="1F2120"/>
                </a:solidFill>
              </a:rPr>
              <a:t>High</a:t>
            </a:r>
            <a:endParaRPr lang="en-US" sz="1000" dirty="0"/>
          </a:p>
        </p:txBody>
      </p:sp>
      <p:sp>
        <p:nvSpPr>
          <p:cNvPr id="22" name="Text 20"/>
          <p:cNvSpPr/>
          <p:nvPr/>
        </p:nvSpPr>
        <p:spPr>
          <a:xfrm>
            <a:off x="2743200" y="4572000"/>
            <a:ext cx="1371600" cy="228600"/>
          </a:xfrm>
          <a:prstGeom prst="rect">
            <a:avLst/>
          </a:prstGeom>
          <a:noFill/>
          <a:ln/>
        </p:spPr>
        <p:txBody>
          <a:bodyPr wrap="square" rtlCol="0" anchor="ctr"/>
          <a:lstStyle/>
          <a:p>
            <a:pPr algn="ctr" indent="0" marL="0">
              <a:buNone/>
            </a:pPr>
            <a:r>
              <a:rPr lang="en-US" sz="1100" b="1" dirty="0">
                <a:solidFill>
                  <a:srgbClr val="1F2120"/>
                </a:solidFill>
              </a:rPr>
              <a:t>Ambiguity</a:t>
            </a:r>
            <a:endParaRPr lang="en-US" sz="1100" dirty="0"/>
          </a:p>
        </p:txBody>
      </p:sp>
      <p:sp>
        <p:nvSpPr>
          <p:cNvPr id="23" name="Text 21"/>
          <p:cNvSpPr/>
          <p:nvPr/>
        </p:nvSpPr>
        <p:spPr>
          <a:xfrm rot="16200000">
            <a:off x="731520" y="2240280"/>
            <a:ext cx="1097280" cy="457200"/>
          </a:xfrm>
          <a:prstGeom prst="rect">
            <a:avLst/>
          </a:prstGeom>
          <a:noFill/>
          <a:ln/>
        </p:spPr>
        <p:txBody>
          <a:bodyPr wrap="square" rtlCol="0" anchor="ctr"/>
          <a:lstStyle/>
          <a:p>
            <a:pPr indent="0" marL="0">
              <a:buNone/>
            </a:pPr>
            <a:r>
              <a:rPr lang="en-US" sz="1100" b="1" dirty="0">
                <a:solidFill>
                  <a:srgbClr val="1F2120"/>
                </a:solidFill>
              </a:rPr>
              <a:t>Stability</a:t>
            </a:r>
            <a:endParaRPr lang="en-US" sz="1100" dirty="0"/>
          </a:p>
        </p:txBody>
      </p:sp>
      <p:sp>
        <p:nvSpPr>
          <p:cNvPr id="24" name="Text 22"/>
          <p:cNvSpPr/>
          <p:nvPr/>
        </p:nvSpPr>
        <p:spPr>
          <a:xfrm>
            <a:off x="5029200" y="1188720"/>
            <a:ext cx="3657600" cy="2743200"/>
          </a:xfrm>
          <a:prstGeom prst="rect">
            <a:avLst/>
          </a:prstGeom>
          <a:noFill/>
          <a:ln/>
        </p:spPr>
        <p:txBody>
          <a:bodyPr wrap="square" rtlCol="0" anchor="ctr"/>
          <a:lstStyle/>
          <a:p>
            <a:pPr indent="0" marL="0">
              <a:buNone/>
            </a:pPr>
            <a:r>
              <a:rPr lang="en-US" sz="1100" dirty="0">
                <a:solidFill>
                  <a:srgbClr val="1F2120"/>
                </a:solidFill>
              </a:rPr>
              <a:t>The Sweet Spot is where rules are stable and answers are clear. That's where AI shines. In the Rules Must Hold quadrant, AI can help draft things but humans need to verify. Convenience Zone is helpful but changes often so solutions break. Judgment Zone needs human judgment—AI is optional.</a:t>
            </a:r>
            <a:endParaRPr lang="en-US" sz="1100" dirty="0"/>
          </a:p>
        </p:txBody>
      </p:sp>
      <p:sp>
        <p:nvSpPr>
          <p:cNvPr id="25" name="Shape 23"/>
          <p:cNvSpPr/>
          <p:nvPr/>
        </p:nvSpPr>
        <p:spPr>
          <a:xfrm>
            <a:off x="8503920" y="4572000"/>
            <a:ext cx="182880" cy="182880"/>
          </a:xfrm>
          <a:prstGeom prst="triangle">
            <a:avLst/>
          </a:prstGeom>
          <a:solidFill>
            <a:srgbClr val="CF3338"/>
          </a:solidFill>
          <a:ln/>
        </p:spPr>
      </p:sp>
      <p:sp>
        <p:nvSpPr>
          <p:cNvPr id="26" name="Shape 24"/>
          <p:cNvSpPr/>
          <p:nvPr/>
        </p:nvSpPr>
        <p:spPr>
          <a:xfrm>
            <a:off x="8668512" y="4736592"/>
            <a:ext cx="182880" cy="182880"/>
          </a:xfrm>
          <a:prstGeom prst="triangle">
            <a:avLst/>
          </a:prstGeom>
          <a:solidFill>
            <a:srgbClr val="CF3338"/>
          </a:solidFill>
          <a:ln/>
        </p:spPr>
      </p:sp>
      <p:sp>
        <p:nvSpPr>
          <p:cNvPr id="27" name="Shape 25"/>
          <p:cNvSpPr/>
          <p:nvPr/>
        </p:nvSpPr>
        <p:spPr>
          <a:xfrm>
            <a:off x="8833104" y="4901184"/>
            <a:ext cx="182880" cy="182880"/>
          </a:xfrm>
          <a:prstGeom prst="triangle">
            <a:avLst/>
          </a:prstGeom>
          <a:solidFill>
            <a:srgbClr val="CF3338"/>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Placing Real Tasks on the Matrix</a:t>
            </a:r>
            <a:endParaRPr lang="en-US" sz="2800" dirty="0"/>
          </a:p>
        </p:txBody>
      </p:sp>
      <p:sp>
        <p:nvSpPr>
          <p:cNvPr id="4" name="Shape 2"/>
          <p:cNvSpPr/>
          <p:nvPr/>
        </p:nvSpPr>
        <p:spPr>
          <a:xfrm>
            <a:off x="731520" y="2286000"/>
            <a:ext cx="2560320" cy="0"/>
          </a:xfrm>
          <a:prstGeom prst="line">
            <a:avLst/>
          </a:prstGeom>
          <a:noFill/>
          <a:ln w="12700">
            <a:solidFill>
              <a:srgbClr val="1F2120"/>
            </a:solidFill>
            <a:prstDash val="solid"/>
          </a:ln>
        </p:spPr>
      </p:sp>
      <p:sp>
        <p:nvSpPr>
          <p:cNvPr id="5" name="Shape 3"/>
          <p:cNvSpPr/>
          <p:nvPr/>
        </p:nvSpPr>
        <p:spPr>
          <a:xfrm>
            <a:off x="2011680" y="1005840"/>
            <a:ext cx="0" cy="2560320"/>
          </a:xfrm>
          <a:prstGeom prst="line">
            <a:avLst/>
          </a:prstGeom>
          <a:noFill/>
          <a:ln w="12700">
            <a:solidFill>
              <a:srgbClr val="1F2120"/>
            </a:solidFill>
            <a:prstDash val="solid"/>
          </a:ln>
        </p:spPr>
      </p:sp>
      <p:sp>
        <p:nvSpPr>
          <p:cNvPr id="6" name="Shape 4"/>
          <p:cNvSpPr/>
          <p:nvPr/>
        </p:nvSpPr>
        <p:spPr>
          <a:xfrm>
            <a:off x="731520" y="1005840"/>
            <a:ext cx="1280160" cy="1280160"/>
          </a:xfrm>
          <a:prstGeom prst="rect">
            <a:avLst/>
          </a:prstGeom>
          <a:solidFill>
            <a:srgbClr val="CF3338"/>
          </a:solidFill>
          <a:ln/>
        </p:spPr>
      </p:sp>
      <p:sp>
        <p:nvSpPr>
          <p:cNvPr id="7" name="Shape 5"/>
          <p:cNvSpPr/>
          <p:nvPr/>
        </p:nvSpPr>
        <p:spPr>
          <a:xfrm>
            <a:off x="1362456" y="2916936"/>
            <a:ext cx="274320" cy="274320"/>
          </a:xfrm>
          <a:prstGeom prst="ellipse">
            <a:avLst/>
          </a:prstGeom>
          <a:solidFill>
            <a:srgbClr val="CF3338"/>
          </a:solidFill>
          <a:ln/>
        </p:spPr>
      </p:sp>
      <p:sp>
        <p:nvSpPr>
          <p:cNvPr id="8" name="Text 6"/>
          <p:cNvSpPr/>
          <p:nvPr/>
        </p:nvSpPr>
        <p:spPr>
          <a:xfrm>
            <a:off x="1362456" y="2734056"/>
            <a:ext cx="822960" cy="548640"/>
          </a:xfrm>
          <a:prstGeom prst="rect">
            <a:avLst/>
          </a:prstGeom>
          <a:noFill/>
          <a:ln/>
        </p:spPr>
        <p:txBody>
          <a:bodyPr wrap="square" rtlCol="0" anchor="ctr"/>
          <a:lstStyle/>
          <a:p>
            <a:pPr algn="ctr" indent="0" marL="0">
              <a:buNone/>
            </a:pPr>
            <a:r>
              <a:rPr lang="en-US" sz="800" b="1" dirty="0">
                <a:solidFill>
                  <a:srgbClr val="1F2120"/>
                </a:solidFill>
              </a:rPr>
              <a:t>Monthly KPI</a:t>
            </a:r>
            <a:endParaRPr lang="en-US" sz="800" dirty="0"/>
          </a:p>
          <a:p>
            <a:pPr algn="ctr" indent="0" marL="0">
              <a:buNone/>
            </a:pPr>
            <a:r>
              <a:rPr lang="en-US" sz="800" b="1" dirty="0">
                <a:solidFill>
                  <a:srgbClr val="1F2120"/>
                </a:solidFill>
              </a:rPr>
              <a:t>Dashboard</a:t>
            </a:r>
            <a:endParaRPr lang="en-US" sz="800" dirty="0"/>
          </a:p>
        </p:txBody>
      </p:sp>
      <p:sp>
        <p:nvSpPr>
          <p:cNvPr id="9" name="Shape 7"/>
          <p:cNvSpPr/>
          <p:nvPr/>
        </p:nvSpPr>
        <p:spPr>
          <a:xfrm>
            <a:off x="2514600" y="1508760"/>
            <a:ext cx="274320" cy="274320"/>
          </a:xfrm>
          <a:prstGeom prst="ellipse">
            <a:avLst/>
          </a:prstGeom>
          <a:solidFill>
            <a:srgbClr val="CF3338"/>
          </a:solidFill>
          <a:ln/>
        </p:spPr>
      </p:sp>
      <p:sp>
        <p:nvSpPr>
          <p:cNvPr id="10" name="Text 8"/>
          <p:cNvSpPr/>
          <p:nvPr/>
        </p:nvSpPr>
        <p:spPr>
          <a:xfrm>
            <a:off x="2514600" y="1325880"/>
            <a:ext cx="822960" cy="548640"/>
          </a:xfrm>
          <a:prstGeom prst="rect">
            <a:avLst/>
          </a:prstGeom>
          <a:noFill/>
          <a:ln/>
        </p:spPr>
        <p:txBody>
          <a:bodyPr wrap="square" rtlCol="0" anchor="ctr"/>
          <a:lstStyle/>
          <a:p>
            <a:pPr algn="ctr" indent="0" marL="0">
              <a:buNone/>
            </a:pPr>
            <a:r>
              <a:rPr lang="en-US" sz="800" b="1" dirty="0">
                <a:solidFill>
                  <a:srgbClr val="1F2120"/>
                </a:solidFill>
              </a:rPr>
              <a:t>Exploratory</a:t>
            </a:r>
            <a:endParaRPr lang="en-US" sz="800" dirty="0"/>
          </a:p>
          <a:p>
            <a:pPr algn="ctr" indent="0" marL="0">
              <a:buNone/>
            </a:pPr>
            <a:r>
              <a:rPr lang="en-US" sz="800" b="1" dirty="0">
                <a:solidFill>
                  <a:srgbClr val="1F2120"/>
                </a:solidFill>
              </a:rPr>
              <a:t>Data Analysis</a:t>
            </a:r>
            <a:endParaRPr lang="en-US" sz="800" dirty="0"/>
          </a:p>
        </p:txBody>
      </p:sp>
      <p:sp>
        <p:nvSpPr>
          <p:cNvPr id="11" name="Shape 9"/>
          <p:cNvSpPr/>
          <p:nvPr/>
        </p:nvSpPr>
        <p:spPr>
          <a:xfrm>
            <a:off x="2514600" y="3044952"/>
            <a:ext cx="274320" cy="274320"/>
          </a:xfrm>
          <a:prstGeom prst="ellipse">
            <a:avLst/>
          </a:prstGeom>
          <a:solidFill>
            <a:srgbClr val="CF3338"/>
          </a:solidFill>
          <a:ln/>
        </p:spPr>
      </p:sp>
      <p:sp>
        <p:nvSpPr>
          <p:cNvPr id="12" name="Text 10"/>
          <p:cNvSpPr/>
          <p:nvPr/>
        </p:nvSpPr>
        <p:spPr>
          <a:xfrm>
            <a:off x="2514600" y="2862072"/>
            <a:ext cx="822960" cy="548640"/>
          </a:xfrm>
          <a:prstGeom prst="rect">
            <a:avLst/>
          </a:prstGeom>
          <a:noFill/>
          <a:ln/>
        </p:spPr>
        <p:txBody>
          <a:bodyPr wrap="square" rtlCol="0" anchor="ctr"/>
          <a:lstStyle/>
          <a:p>
            <a:pPr algn="ctr" indent="0" marL="0">
              <a:buNone/>
            </a:pPr>
            <a:r>
              <a:rPr lang="en-US" sz="800" b="1" dirty="0">
                <a:solidFill>
                  <a:srgbClr val="1F2120"/>
                </a:solidFill>
              </a:rPr>
              <a:t>Quarterly</a:t>
            </a:r>
            <a:endParaRPr lang="en-US" sz="800" dirty="0"/>
          </a:p>
          <a:p>
            <a:pPr algn="ctr" indent="0" marL="0">
              <a:buNone/>
            </a:pPr>
            <a:r>
              <a:rPr lang="en-US" sz="800" b="1" dirty="0">
                <a:solidFill>
                  <a:srgbClr val="1F2120"/>
                </a:solidFill>
              </a:rPr>
              <a:t>Board Deck</a:t>
            </a:r>
            <a:endParaRPr lang="en-US" sz="800" dirty="0"/>
          </a:p>
        </p:txBody>
      </p:sp>
      <p:sp>
        <p:nvSpPr>
          <p:cNvPr id="13" name="Text 11"/>
          <p:cNvSpPr/>
          <p:nvPr/>
        </p:nvSpPr>
        <p:spPr>
          <a:xfrm>
            <a:off x="3657600" y="1005840"/>
            <a:ext cx="5029200" cy="1005840"/>
          </a:xfrm>
          <a:prstGeom prst="rect">
            <a:avLst/>
          </a:prstGeom>
          <a:noFill/>
          <a:ln/>
        </p:spPr>
        <p:txBody>
          <a:bodyPr wrap="square" rtlCol="0" anchor="ctr"/>
          <a:lstStyle/>
          <a:p>
            <a:pPr indent="0" marL="0">
              <a:buNone/>
            </a:pPr>
            <a:r>
              <a:rPr lang="en-US" sz="1100" dirty="0">
                <a:solidFill>
                  <a:srgbClr val="1F2120"/>
                </a:solidFill>
              </a:rPr>
              <a:t>Monthly KPI Dashboard Refresh</a:t>
            </a:r>
            <a:endParaRPr lang="en-US" sz="1100" dirty="0"/>
          </a:p>
          <a:p>
            <a:pPr indent="0" marL="0">
              <a:buNone/>
            </a:pPr>
            <a:r>
              <a:rPr lang="en-US" sz="1100" dirty="0">
                <a:solidFill>
                  <a:srgbClr val="1F2120"/>
                </a:solidFill>
              </a:rPr>
              <a:t>High Stability, Low Ambiguity</a:t>
            </a:r>
            <a:endParaRPr lang="en-US" sz="1100" dirty="0"/>
          </a:p>
          <a:p>
            <a:pPr indent="0" marL="0">
              <a:buNone/>
            </a:pPr>
            <a:r>
              <a:rPr lang="en-US" sz="1100" dirty="0">
                <a:solidFill>
                  <a:srgbClr val="1F2120"/>
                </a:solidFill>
              </a:rPr>
              <a:t>→ AI Sweet Spot</a:t>
            </a:r>
            <a:endParaRPr lang="en-US" sz="1100" dirty="0"/>
          </a:p>
        </p:txBody>
      </p:sp>
      <p:sp>
        <p:nvSpPr>
          <p:cNvPr id="14" name="Text 12"/>
          <p:cNvSpPr/>
          <p:nvPr/>
        </p:nvSpPr>
        <p:spPr>
          <a:xfrm>
            <a:off x="3657600" y="2194560"/>
            <a:ext cx="5029200" cy="1005840"/>
          </a:xfrm>
          <a:prstGeom prst="rect">
            <a:avLst/>
          </a:prstGeom>
          <a:noFill/>
          <a:ln/>
        </p:spPr>
        <p:txBody>
          <a:bodyPr wrap="square" rtlCol="0" anchor="ctr"/>
          <a:lstStyle/>
          <a:p>
            <a:pPr indent="0" marL="0">
              <a:buNone/>
            </a:pPr>
            <a:r>
              <a:rPr lang="en-US" sz="1100" dirty="0">
                <a:solidFill>
                  <a:srgbClr val="1F2120"/>
                </a:solidFill>
              </a:rPr>
              <a:t>Exploratory Data Analysis</a:t>
            </a:r>
            <a:endParaRPr lang="en-US" sz="1100" dirty="0"/>
          </a:p>
          <a:p>
            <a:pPr indent="0" marL="0">
              <a:buNone/>
            </a:pPr>
            <a:r>
              <a:rPr lang="en-US" sz="1100" dirty="0">
                <a:solidFill>
                  <a:srgbClr val="1F2120"/>
                </a:solidFill>
              </a:rPr>
              <a:t>Low Stability, High Ambiguity</a:t>
            </a:r>
            <a:endParaRPr lang="en-US" sz="1100" dirty="0"/>
          </a:p>
          <a:p>
            <a:pPr indent="0" marL="0">
              <a:buNone/>
            </a:pPr>
            <a:r>
              <a:rPr lang="en-US" sz="1100" dirty="0">
                <a:solidFill>
                  <a:srgbClr val="1F2120"/>
                </a:solidFill>
              </a:rPr>
              <a:t>→ Judgment Zone</a:t>
            </a:r>
            <a:endParaRPr lang="en-US" sz="1100" dirty="0"/>
          </a:p>
        </p:txBody>
      </p:sp>
      <p:sp>
        <p:nvSpPr>
          <p:cNvPr id="15" name="Text 13"/>
          <p:cNvSpPr/>
          <p:nvPr/>
        </p:nvSpPr>
        <p:spPr>
          <a:xfrm>
            <a:off x="3657600" y="3383280"/>
            <a:ext cx="5029200" cy="1005840"/>
          </a:xfrm>
          <a:prstGeom prst="rect">
            <a:avLst/>
          </a:prstGeom>
          <a:noFill/>
          <a:ln/>
        </p:spPr>
        <p:txBody>
          <a:bodyPr wrap="square" rtlCol="0" anchor="ctr"/>
          <a:lstStyle/>
          <a:p>
            <a:pPr indent="0" marL="0">
              <a:buNone/>
            </a:pPr>
            <a:r>
              <a:rPr lang="en-US" sz="1100" dirty="0">
                <a:solidFill>
                  <a:srgbClr val="1F2120"/>
                </a:solidFill>
              </a:rPr>
              <a:t>Quarterly Board Deck Data Pull</a:t>
            </a:r>
            <a:endParaRPr lang="en-US" sz="1100" dirty="0"/>
          </a:p>
          <a:p>
            <a:pPr indent="0" marL="0">
              <a:buNone/>
            </a:pPr>
            <a:r>
              <a:rPr lang="en-US" sz="1100" dirty="0">
                <a:solidFill>
                  <a:srgbClr val="1F2120"/>
                </a:solidFill>
              </a:rPr>
              <a:t>High Stability, High Ambiguity</a:t>
            </a:r>
            <a:endParaRPr lang="en-US" sz="1100" dirty="0"/>
          </a:p>
          <a:p>
            <a:pPr indent="0" marL="0">
              <a:buNone/>
            </a:pPr>
            <a:r>
              <a:rPr lang="en-US" sz="1100" dirty="0">
                <a:solidFill>
                  <a:srgbClr val="1F2120"/>
                </a:solidFill>
              </a:rPr>
              <a:t>→ Rules Must Hold</a:t>
            </a:r>
            <a:endParaRPr lang="en-US" sz="1100" dirty="0"/>
          </a:p>
        </p:txBody>
      </p:sp>
      <p:sp>
        <p:nvSpPr>
          <p:cNvPr id="16" name="Shape 14"/>
          <p:cNvSpPr/>
          <p:nvPr/>
        </p:nvSpPr>
        <p:spPr>
          <a:xfrm>
            <a:off x="8503920" y="4572000"/>
            <a:ext cx="182880" cy="182880"/>
          </a:xfrm>
          <a:prstGeom prst="triangle">
            <a:avLst/>
          </a:prstGeom>
          <a:solidFill>
            <a:srgbClr val="CF3338"/>
          </a:solidFill>
          <a:ln/>
        </p:spPr>
      </p:sp>
      <p:sp>
        <p:nvSpPr>
          <p:cNvPr id="17" name="Shape 15"/>
          <p:cNvSpPr/>
          <p:nvPr/>
        </p:nvSpPr>
        <p:spPr>
          <a:xfrm>
            <a:off x="8668512" y="4736592"/>
            <a:ext cx="182880" cy="182880"/>
          </a:xfrm>
          <a:prstGeom prst="triangle">
            <a:avLst/>
          </a:prstGeom>
          <a:solidFill>
            <a:srgbClr val="CF3338"/>
          </a:solidFill>
          <a:ln/>
        </p:spPr>
      </p:sp>
      <p:sp>
        <p:nvSpPr>
          <p:cNvPr id="18" name="Shape 16"/>
          <p:cNvSpPr/>
          <p:nvPr/>
        </p:nvSpPr>
        <p:spPr>
          <a:xfrm>
            <a:off x="8833104" y="4901184"/>
            <a:ext cx="182880" cy="182880"/>
          </a:xfrm>
          <a:prstGeom prst="triangle">
            <a:avLst/>
          </a:prstGeom>
          <a:solidFill>
            <a:srgbClr val="CF3338"/>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Exposure &amp; Frequency Overlay</a:t>
            </a:r>
            <a:endParaRPr lang="en-US" sz="2800" dirty="0"/>
          </a:p>
        </p:txBody>
      </p:sp>
      <p:sp>
        <p:nvSpPr>
          <p:cNvPr id="4" name="Shape 2"/>
          <p:cNvSpPr/>
          <p:nvPr/>
        </p:nvSpPr>
        <p:spPr>
          <a:xfrm>
            <a:off x="457200" y="1097280"/>
            <a:ext cx="3931920" cy="3200400"/>
          </a:xfrm>
          <a:prstGeom prst="rect">
            <a:avLst/>
          </a:prstGeom>
          <a:solidFill>
            <a:srgbClr val="CF3338"/>
          </a:solidFill>
          <a:ln/>
        </p:spPr>
      </p:sp>
      <p:sp>
        <p:nvSpPr>
          <p:cNvPr id="5" name="Text 3"/>
          <p:cNvSpPr/>
          <p:nvPr/>
        </p:nvSpPr>
        <p:spPr>
          <a:xfrm>
            <a:off x="640080" y="1234440"/>
            <a:ext cx="3566160" cy="36576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Exposure</a:t>
            </a:r>
            <a:endParaRPr lang="en-US" sz="1800" dirty="0"/>
          </a:p>
        </p:txBody>
      </p:sp>
      <p:sp>
        <p:nvSpPr>
          <p:cNvPr id="6" name="Text 4"/>
          <p:cNvSpPr/>
          <p:nvPr/>
        </p:nvSpPr>
        <p:spPr>
          <a:xfrm>
            <a:off x="640080" y="1691640"/>
            <a:ext cx="3566160" cy="2377440"/>
          </a:xfrm>
          <a:prstGeom prst="rect">
            <a:avLst/>
          </a:prstGeom>
          <a:noFill/>
          <a:ln/>
        </p:spPr>
        <p:txBody>
          <a:bodyPr wrap="square" rtlCol="0" anchor="ctr"/>
          <a:lstStyle/>
          <a:p>
            <a:pPr indent="0" marL="0">
              <a:buNone/>
            </a:pPr>
            <a:r>
              <a:rPr lang="en-US" sz="1100" dirty="0">
                <a:solidFill>
                  <a:srgbClr val="FFFFFF"/>
                </a:solidFill>
              </a:rPr>
              <a:t>High exposure data is a veto. Even if your task is perfect for AI on every other dimension, if you're dealing with customer PII, financial records, or regulated data, you don't put it in a cloud tool unless you have legal and security clearance.</a:t>
            </a:r>
            <a:endParaRPr lang="en-US" sz="1100" dirty="0"/>
          </a:p>
          <a:p>
            <a:pPr indent="0" marL="0">
              <a:buNone/>
            </a:pPr>
            <a:endParaRPr lang="en-US" sz="1100" dirty="0"/>
          </a:p>
          <a:p>
            <a:pPr indent="0" marL="0">
              <a:buNone/>
            </a:pPr>
            <a:r>
              <a:rPr lang="en-US" sz="1100" dirty="0">
                <a:solidFill>
                  <a:srgbClr val="FFFFFF"/>
                </a:solidFill>
              </a:rPr>
              <a:t>This is NOT about whether the tool is "secure." It's about whose data it is. Customer data belongs to them, not you.</a:t>
            </a:r>
            <a:endParaRPr lang="en-US" sz="1100" dirty="0"/>
          </a:p>
        </p:txBody>
      </p:sp>
      <p:sp>
        <p:nvSpPr>
          <p:cNvPr id="7" name="Shape 5"/>
          <p:cNvSpPr/>
          <p:nvPr/>
        </p:nvSpPr>
        <p:spPr>
          <a:xfrm>
            <a:off x="4754880" y="1097280"/>
            <a:ext cx="3931920" cy="3200400"/>
          </a:xfrm>
          <a:prstGeom prst="rect">
            <a:avLst/>
          </a:prstGeom>
          <a:solidFill>
            <a:srgbClr val="707070"/>
          </a:solidFill>
          <a:ln/>
        </p:spPr>
      </p:sp>
      <p:sp>
        <p:nvSpPr>
          <p:cNvPr id="8" name="Text 6"/>
          <p:cNvSpPr/>
          <p:nvPr/>
        </p:nvSpPr>
        <p:spPr>
          <a:xfrm>
            <a:off x="4937760" y="1234440"/>
            <a:ext cx="3566160" cy="36576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Frequency</a:t>
            </a:r>
            <a:endParaRPr lang="en-US" sz="1800" dirty="0"/>
          </a:p>
        </p:txBody>
      </p:sp>
      <p:sp>
        <p:nvSpPr>
          <p:cNvPr id="9" name="Text 7"/>
          <p:cNvSpPr/>
          <p:nvPr/>
        </p:nvSpPr>
        <p:spPr>
          <a:xfrm>
            <a:off x="4937760" y="1691640"/>
            <a:ext cx="3566160" cy="2377440"/>
          </a:xfrm>
          <a:prstGeom prst="rect">
            <a:avLst/>
          </a:prstGeom>
          <a:noFill/>
          <a:ln/>
        </p:spPr>
        <p:txBody>
          <a:bodyPr wrap="square" rtlCol="0" anchor="ctr"/>
          <a:lstStyle/>
          <a:p>
            <a:pPr indent="0" marL="0">
              <a:buNone/>
            </a:pPr>
            <a:r>
              <a:rPr lang="en-US" sz="1100" dirty="0">
                <a:solidFill>
                  <a:srgbClr val="FFFFFF"/>
                </a:solidFill>
              </a:rPr>
              <a:t>High frequency = high ROI. If you do a task daily or weekly, the time and money you save adds up fast. If you do a task once a year, the ROI on setting up an AI solution is probably lower.</a:t>
            </a:r>
            <a:endParaRPr lang="en-US" sz="1100" dirty="0"/>
          </a:p>
          <a:p>
            <a:pPr indent="0" marL="0">
              <a:buNone/>
            </a:pPr>
            <a:endParaRPr lang="en-US" sz="1100" dirty="0"/>
          </a:p>
          <a:p>
            <a:pPr indent="0" marL="0">
              <a:buNone/>
            </a:pPr>
            <a:r>
              <a:rPr lang="en-US" sz="1100" dirty="0">
                <a:solidFill>
                  <a:srgbClr val="FFFFFF"/>
                </a:solidFill>
              </a:rPr>
              <a:t>But here's the thing: even low-frequency tasks in the Sweet Spot are worth automating if they're painful.</a:t>
            </a:r>
            <a:endParaRPr lang="en-US" sz="1100" dirty="0"/>
          </a:p>
        </p:txBody>
      </p:sp>
      <p:sp>
        <p:nvSpPr>
          <p:cNvPr id="10" name="Shape 8"/>
          <p:cNvSpPr/>
          <p:nvPr/>
        </p:nvSpPr>
        <p:spPr>
          <a:xfrm>
            <a:off x="8503920" y="4572000"/>
            <a:ext cx="182880" cy="182880"/>
          </a:xfrm>
          <a:prstGeom prst="triangle">
            <a:avLst/>
          </a:prstGeom>
          <a:solidFill>
            <a:srgbClr val="CF3338"/>
          </a:solidFill>
          <a:ln/>
        </p:spPr>
      </p:sp>
      <p:sp>
        <p:nvSpPr>
          <p:cNvPr id="11" name="Shape 9"/>
          <p:cNvSpPr/>
          <p:nvPr/>
        </p:nvSpPr>
        <p:spPr>
          <a:xfrm>
            <a:off x="8668512" y="4736592"/>
            <a:ext cx="182880" cy="182880"/>
          </a:xfrm>
          <a:prstGeom prst="triangle">
            <a:avLst/>
          </a:prstGeom>
          <a:solidFill>
            <a:srgbClr val="CF3338"/>
          </a:solidFill>
          <a:ln/>
        </p:spPr>
      </p:sp>
      <p:sp>
        <p:nvSpPr>
          <p:cNvPr id="12" name="Shape 10"/>
          <p:cNvSpPr/>
          <p:nvPr/>
        </p:nvSpPr>
        <p:spPr>
          <a:xfrm>
            <a:off x="8833104" y="4901184"/>
            <a:ext cx="182880" cy="182880"/>
          </a:xfrm>
          <a:prstGeom prst="triangle">
            <a:avLst/>
          </a:prstGeom>
          <a:solidFill>
            <a:srgbClr val="CF3338"/>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The IA-AI Framework</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IA-AI Framework</a:t>
            </a:r>
            <a:endParaRPr lang="en-US" sz="2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100" i="1" dirty="0">
                <a:solidFill>
                  <a:srgbClr val="707070"/>
                </a:solidFill>
              </a:rPr>
              <a:t>Framework from Tobias Zwingmann, The Profitable AI Advantage (Packt, 2025). Used with attribution.</a:t>
            </a:r>
            <a:endParaRPr lang="en-US" sz="11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Two Axes:</a:t>
            </a:r>
            <a:endParaRPr lang="en-US" sz="1400" dirty="0"/>
          </a:p>
        </p:txBody>
      </p:sp>
      <p:sp>
        <p:nvSpPr>
          <p:cNvPr id="6" name="Shape 4"/>
          <p:cNvSpPr/>
          <p:nvPr/>
        </p:nvSpPr>
        <p:spPr>
          <a:xfrm>
            <a:off x="457200" y="1645920"/>
            <a:ext cx="3931920" cy="2103120"/>
          </a:xfrm>
          <a:prstGeom prst="rect">
            <a:avLst/>
          </a:prstGeom>
          <a:solidFill>
            <a:srgbClr val="EEECE1"/>
          </a:solidFill>
          <a:ln w="25400">
            <a:solidFill>
              <a:srgbClr val="CF3338"/>
            </a:solidFill>
            <a:prstDash val="solid"/>
          </a:ln>
        </p:spPr>
      </p:sp>
      <p:sp>
        <p:nvSpPr>
          <p:cNvPr id="7" name="Text 5"/>
          <p:cNvSpPr/>
          <p:nvPr/>
        </p:nvSpPr>
        <p:spPr>
          <a:xfrm>
            <a:off x="640080" y="1828800"/>
            <a:ext cx="3566160" cy="36576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Integration</a:t>
            </a:r>
            <a:endParaRPr lang="en-US" sz="1300" dirty="0"/>
          </a:p>
        </p:txBody>
      </p:sp>
      <p:sp>
        <p:nvSpPr>
          <p:cNvPr id="8" name="Text 6"/>
          <p:cNvSpPr/>
          <p:nvPr/>
        </p:nvSpPr>
        <p:spPr>
          <a:xfrm>
            <a:off x="640080" y="2286000"/>
            <a:ext cx="3566160" cy="1280160"/>
          </a:xfrm>
          <a:prstGeom prst="rect">
            <a:avLst/>
          </a:prstGeom>
          <a:noFill/>
          <a:ln/>
        </p:spPr>
        <p:txBody>
          <a:bodyPr wrap="square" rtlCol="0" anchor="ctr"/>
          <a:lstStyle/>
          <a:p>
            <a:pPr indent="0" marL="0">
              <a:buNone/>
            </a:pPr>
            <a:r>
              <a:rPr lang="en-US" sz="1100" dirty="0">
                <a:solidFill>
                  <a:srgbClr val="1F2120"/>
                </a:solidFill>
              </a:rPr>
              <a:t>Low Integration: Standalone tools you use separately (ChatGPT, Claude, Gemini).</a:t>
            </a:r>
            <a:endParaRPr lang="en-US" sz="1100" dirty="0"/>
          </a:p>
          <a:p>
            <a:pPr indent="0" marL="0">
              <a:buNone/>
            </a:pPr>
            <a:endParaRPr lang="en-US" sz="1100" dirty="0"/>
          </a:p>
          <a:p>
            <a:pPr indent="0" marL="0">
              <a:buNone/>
            </a:pPr>
            <a:r>
              <a:rPr lang="en-US" sz="1100" dirty="0">
                <a:solidFill>
                  <a:srgbClr val="1F2120"/>
                </a:solidFill>
              </a:rPr>
              <a:t>High Integration: Works inside your existing tools (Excel, Word, Outlook).</a:t>
            </a:r>
            <a:endParaRPr lang="en-US" sz="1100" dirty="0"/>
          </a:p>
        </p:txBody>
      </p:sp>
      <p:sp>
        <p:nvSpPr>
          <p:cNvPr id="9" name="Shape 7"/>
          <p:cNvSpPr/>
          <p:nvPr/>
        </p:nvSpPr>
        <p:spPr>
          <a:xfrm>
            <a:off x="4754880" y="1645920"/>
            <a:ext cx="3931920" cy="2103120"/>
          </a:xfrm>
          <a:prstGeom prst="rect">
            <a:avLst/>
          </a:prstGeom>
          <a:solidFill>
            <a:srgbClr val="EEECE1"/>
          </a:solidFill>
          <a:ln w="25400">
            <a:solidFill>
              <a:srgbClr val="CF3338"/>
            </a:solidFill>
            <a:prstDash val="solid"/>
          </a:ln>
        </p:spPr>
      </p:sp>
      <p:sp>
        <p:nvSpPr>
          <p:cNvPr id="10" name="Text 8"/>
          <p:cNvSpPr/>
          <p:nvPr/>
        </p:nvSpPr>
        <p:spPr>
          <a:xfrm>
            <a:off x="4937760" y="1828800"/>
            <a:ext cx="3566160" cy="36576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Automation</a:t>
            </a:r>
            <a:endParaRPr lang="en-US" sz="1300" dirty="0"/>
          </a:p>
        </p:txBody>
      </p:sp>
      <p:sp>
        <p:nvSpPr>
          <p:cNvPr id="11" name="Text 9"/>
          <p:cNvSpPr/>
          <p:nvPr/>
        </p:nvSpPr>
        <p:spPr>
          <a:xfrm>
            <a:off x="4937760" y="2286000"/>
            <a:ext cx="3566160" cy="1280160"/>
          </a:xfrm>
          <a:prstGeom prst="rect">
            <a:avLst/>
          </a:prstGeom>
          <a:noFill/>
          <a:ln/>
        </p:spPr>
        <p:txBody>
          <a:bodyPr wrap="square" rtlCol="0" anchor="ctr"/>
          <a:lstStyle/>
          <a:p>
            <a:pPr indent="0" marL="0">
              <a:buNone/>
            </a:pPr>
            <a:r>
              <a:rPr lang="en-US" sz="1100" dirty="0">
                <a:solidFill>
                  <a:srgbClr val="1F2120"/>
                </a:solidFill>
              </a:rPr>
              <a:t>Low Automation: You ask, it answers. You stay in control.</a:t>
            </a:r>
            <a:endParaRPr lang="en-US" sz="1100" dirty="0"/>
          </a:p>
          <a:p>
            <a:pPr indent="0" marL="0">
              <a:buNone/>
            </a:pPr>
            <a:endParaRPr lang="en-US" sz="1100" dirty="0"/>
          </a:p>
          <a:p>
            <a:pPr indent="0" marL="0">
              <a:buNone/>
            </a:pPr>
            <a:r>
              <a:rPr lang="en-US" sz="1100" dirty="0">
                <a:solidFill>
                  <a:srgbClr val="1F2120"/>
                </a:solidFill>
              </a:rPr>
              <a:t>High Automation: Runs on a schedule or trigger. Minimal human intervention.</a:t>
            </a:r>
            <a:endParaRPr lang="en-US" sz="1100" dirty="0"/>
          </a:p>
        </p:txBody>
      </p:sp>
      <p:sp>
        <p:nvSpPr>
          <p:cNvPr id="12" name="Shape 10"/>
          <p:cNvSpPr/>
          <p:nvPr/>
        </p:nvSpPr>
        <p:spPr>
          <a:xfrm>
            <a:off x="8503920" y="4572000"/>
            <a:ext cx="182880" cy="182880"/>
          </a:xfrm>
          <a:prstGeom prst="triangle">
            <a:avLst/>
          </a:prstGeom>
          <a:solidFill>
            <a:srgbClr val="CF3338"/>
          </a:solidFill>
          <a:ln/>
        </p:spPr>
      </p:sp>
      <p:sp>
        <p:nvSpPr>
          <p:cNvPr id="13" name="Shape 11"/>
          <p:cNvSpPr/>
          <p:nvPr/>
        </p:nvSpPr>
        <p:spPr>
          <a:xfrm>
            <a:off x="8668512" y="4736592"/>
            <a:ext cx="182880" cy="182880"/>
          </a:xfrm>
          <a:prstGeom prst="triangle">
            <a:avLst/>
          </a:prstGeom>
          <a:solidFill>
            <a:srgbClr val="CF3338"/>
          </a:solidFill>
          <a:ln/>
        </p:spPr>
      </p:sp>
      <p:sp>
        <p:nvSpPr>
          <p:cNvPr id="14" name="Shape 12"/>
          <p:cNvSpPr/>
          <p:nvPr/>
        </p:nvSpPr>
        <p:spPr>
          <a:xfrm>
            <a:off x="8833104" y="4901184"/>
            <a:ext cx="182880" cy="182880"/>
          </a:xfrm>
          <a:prstGeom prst="triangle">
            <a:avLst/>
          </a:prstGeom>
          <a:solidFill>
            <a:srgbClr val="CF3338"/>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Four AI Deployment Types</a:t>
            </a:r>
            <a:endParaRPr lang="en-US" sz="2800" dirty="0"/>
          </a:p>
        </p:txBody>
      </p:sp>
      <p:sp>
        <p:nvSpPr>
          <p:cNvPr id="4" name="Shape 2"/>
          <p:cNvSpPr/>
          <p:nvPr/>
        </p:nvSpPr>
        <p:spPr>
          <a:xfrm>
            <a:off x="731520" y="2606040"/>
            <a:ext cx="3200400" cy="0"/>
          </a:xfrm>
          <a:prstGeom prst="line">
            <a:avLst/>
          </a:prstGeom>
          <a:noFill/>
          <a:ln w="25400">
            <a:solidFill>
              <a:srgbClr val="1F2120"/>
            </a:solidFill>
            <a:prstDash val="solid"/>
          </a:ln>
        </p:spPr>
      </p:sp>
      <p:sp>
        <p:nvSpPr>
          <p:cNvPr id="5" name="Shape 3"/>
          <p:cNvSpPr/>
          <p:nvPr/>
        </p:nvSpPr>
        <p:spPr>
          <a:xfrm>
            <a:off x="2331720" y="1005840"/>
            <a:ext cx="0" cy="3200400"/>
          </a:xfrm>
          <a:prstGeom prst="line">
            <a:avLst/>
          </a:prstGeom>
          <a:noFill/>
          <a:ln w="25400">
            <a:solidFill>
              <a:srgbClr val="1F2120"/>
            </a:solidFill>
            <a:prstDash val="solid"/>
          </a:ln>
        </p:spPr>
      </p:sp>
      <p:sp>
        <p:nvSpPr>
          <p:cNvPr id="6" name="Shape 4"/>
          <p:cNvSpPr/>
          <p:nvPr/>
        </p:nvSpPr>
        <p:spPr>
          <a:xfrm>
            <a:off x="731520" y="1005840"/>
            <a:ext cx="1600200" cy="1600200"/>
          </a:xfrm>
          <a:prstGeom prst="rect">
            <a:avLst/>
          </a:prstGeom>
          <a:solidFill>
            <a:srgbClr val="CF3338"/>
          </a:solidFill>
          <a:ln/>
        </p:spPr>
      </p:sp>
      <p:sp>
        <p:nvSpPr>
          <p:cNvPr id="7" name="Text 5"/>
          <p:cNvSpPr/>
          <p:nvPr/>
        </p:nvSpPr>
        <p:spPr>
          <a:xfrm>
            <a:off x="868680" y="1280160"/>
            <a:ext cx="1325880" cy="36576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Assistants</a:t>
            </a:r>
            <a:endParaRPr lang="en-US" sz="1300" dirty="0"/>
          </a:p>
        </p:txBody>
      </p:sp>
      <p:sp>
        <p:nvSpPr>
          <p:cNvPr id="8" name="Text 6"/>
          <p:cNvSpPr/>
          <p:nvPr/>
        </p:nvSpPr>
        <p:spPr>
          <a:xfrm>
            <a:off x="868680" y="1737360"/>
            <a:ext cx="1325880" cy="457200"/>
          </a:xfrm>
          <a:prstGeom prst="rect">
            <a:avLst/>
          </a:prstGeom>
          <a:noFill/>
          <a:ln/>
        </p:spPr>
        <p:txBody>
          <a:bodyPr wrap="square" rtlCol="0" anchor="ctr"/>
          <a:lstStyle/>
          <a:p>
            <a:pPr algn="ctr" indent="0" marL="0">
              <a:buNone/>
            </a:pPr>
            <a:r>
              <a:rPr lang="en-US" sz="900" dirty="0">
                <a:solidFill>
                  <a:srgbClr val="FFFFFF"/>
                </a:solidFill>
              </a:rPr>
              <a:t>ChatGPT, Claude,</a:t>
            </a:r>
            <a:endParaRPr lang="en-US" sz="900" dirty="0"/>
          </a:p>
          <a:p>
            <a:pPr algn="ctr" indent="0" marL="0">
              <a:buNone/>
            </a:pPr>
            <a:r>
              <a:rPr lang="en-US" sz="900" dirty="0">
                <a:solidFill>
                  <a:srgbClr val="FFFFFF"/>
                </a:solidFill>
              </a:rPr>
              <a:t>Gemini</a:t>
            </a:r>
            <a:endParaRPr lang="en-US" sz="900" dirty="0"/>
          </a:p>
        </p:txBody>
      </p:sp>
      <p:sp>
        <p:nvSpPr>
          <p:cNvPr id="9" name="Shape 7"/>
          <p:cNvSpPr/>
          <p:nvPr/>
        </p:nvSpPr>
        <p:spPr>
          <a:xfrm>
            <a:off x="2331720" y="1005840"/>
            <a:ext cx="1600200" cy="1600200"/>
          </a:xfrm>
          <a:prstGeom prst="rect">
            <a:avLst/>
          </a:prstGeom>
          <a:solidFill>
            <a:srgbClr val="707070"/>
          </a:solidFill>
          <a:ln/>
        </p:spPr>
      </p:sp>
      <p:sp>
        <p:nvSpPr>
          <p:cNvPr id="10" name="Text 8"/>
          <p:cNvSpPr/>
          <p:nvPr/>
        </p:nvSpPr>
        <p:spPr>
          <a:xfrm>
            <a:off x="2468880" y="1280160"/>
            <a:ext cx="1325880" cy="36576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Copilots</a:t>
            </a:r>
            <a:endParaRPr lang="en-US" sz="1300" dirty="0"/>
          </a:p>
        </p:txBody>
      </p:sp>
      <p:sp>
        <p:nvSpPr>
          <p:cNvPr id="11" name="Text 9"/>
          <p:cNvSpPr/>
          <p:nvPr/>
        </p:nvSpPr>
        <p:spPr>
          <a:xfrm>
            <a:off x="2468880" y="1737360"/>
            <a:ext cx="1325880" cy="457200"/>
          </a:xfrm>
          <a:prstGeom prst="rect">
            <a:avLst/>
          </a:prstGeom>
          <a:noFill/>
          <a:ln/>
        </p:spPr>
        <p:txBody>
          <a:bodyPr wrap="square" rtlCol="0" anchor="ctr"/>
          <a:lstStyle/>
          <a:p>
            <a:pPr algn="ctr" indent="0" marL="0">
              <a:buNone/>
            </a:pPr>
            <a:r>
              <a:rPr lang="en-US" sz="900" dirty="0">
                <a:solidFill>
                  <a:srgbClr val="FFFFFF"/>
                </a:solidFill>
              </a:rPr>
              <a:t>M365 Copilot,</a:t>
            </a:r>
            <a:endParaRPr lang="en-US" sz="900" dirty="0"/>
          </a:p>
          <a:p>
            <a:pPr algn="ctr" indent="0" marL="0">
              <a:buNone/>
            </a:pPr>
            <a:r>
              <a:rPr lang="en-US" sz="900" dirty="0">
                <a:solidFill>
                  <a:srgbClr val="FFFFFF"/>
                </a:solidFill>
              </a:rPr>
              <a:t>GitHub Copilot</a:t>
            </a:r>
            <a:endParaRPr lang="en-US" sz="900" dirty="0"/>
          </a:p>
        </p:txBody>
      </p:sp>
      <p:sp>
        <p:nvSpPr>
          <p:cNvPr id="12" name="Shape 10"/>
          <p:cNvSpPr/>
          <p:nvPr/>
        </p:nvSpPr>
        <p:spPr>
          <a:xfrm>
            <a:off x="731520" y="2606040"/>
            <a:ext cx="1600200" cy="1600200"/>
          </a:xfrm>
          <a:prstGeom prst="rect">
            <a:avLst/>
          </a:prstGeom>
          <a:solidFill>
            <a:srgbClr val="EEECE1"/>
          </a:solidFill>
          <a:ln w="25400">
            <a:solidFill>
              <a:srgbClr val="707070"/>
            </a:solidFill>
            <a:prstDash val="solid"/>
          </a:ln>
        </p:spPr>
      </p:sp>
      <p:sp>
        <p:nvSpPr>
          <p:cNvPr id="13" name="Text 11"/>
          <p:cNvSpPr/>
          <p:nvPr/>
        </p:nvSpPr>
        <p:spPr>
          <a:xfrm>
            <a:off x="868680" y="2880360"/>
            <a:ext cx="1325880" cy="365760"/>
          </a:xfrm>
          <a:prstGeom prst="rect">
            <a:avLst/>
          </a:prstGeom>
          <a:noFill/>
          <a:ln/>
        </p:spPr>
        <p:txBody>
          <a:bodyPr wrap="square" rtlCol="0" anchor="ctr"/>
          <a:lstStyle/>
          <a:p>
            <a:pPr algn="ctr" indent="0" marL="0">
              <a:buNone/>
            </a:pPr>
            <a:r>
              <a:rPr lang="en-US" sz="1300" b="1" dirty="0">
                <a:solidFill>
                  <a:srgbClr val="1F2120"/>
                </a:solidFill>
                <a:latin typeface="Arial Black" pitchFamily="34" charset="0"/>
                <a:ea typeface="Arial Black" pitchFamily="34" charset="-122"/>
                <a:cs typeface="Arial Black" pitchFamily="34" charset="-120"/>
              </a:rPr>
              <a:t>Autopilots</a:t>
            </a:r>
            <a:endParaRPr lang="en-US" sz="1300" dirty="0"/>
          </a:p>
        </p:txBody>
      </p:sp>
      <p:sp>
        <p:nvSpPr>
          <p:cNvPr id="14" name="Text 12"/>
          <p:cNvSpPr/>
          <p:nvPr/>
        </p:nvSpPr>
        <p:spPr>
          <a:xfrm>
            <a:off x="868680" y="3337560"/>
            <a:ext cx="1325880" cy="457200"/>
          </a:xfrm>
          <a:prstGeom prst="rect">
            <a:avLst/>
          </a:prstGeom>
          <a:noFill/>
          <a:ln/>
        </p:spPr>
        <p:txBody>
          <a:bodyPr wrap="square" rtlCol="0" anchor="ctr"/>
          <a:lstStyle/>
          <a:p>
            <a:pPr algn="ctr" indent="0" marL="0">
              <a:buNone/>
            </a:pPr>
            <a:r>
              <a:rPr lang="en-US" sz="900" dirty="0">
                <a:solidFill>
                  <a:srgbClr val="1F2120"/>
                </a:solidFill>
              </a:rPr>
              <a:t>Zapier, Make,</a:t>
            </a:r>
            <a:endParaRPr lang="en-US" sz="900" dirty="0"/>
          </a:p>
          <a:p>
            <a:pPr algn="ctr" indent="0" marL="0">
              <a:buNone/>
            </a:pPr>
            <a:r>
              <a:rPr lang="en-US" sz="900" dirty="0">
                <a:solidFill>
                  <a:srgbClr val="1F2120"/>
                </a:solidFill>
              </a:rPr>
              <a:t>Scheduled scripts</a:t>
            </a:r>
            <a:endParaRPr lang="en-US" sz="900" dirty="0"/>
          </a:p>
        </p:txBody>
      </p:sp>
      <p:sp>
        <p:nvSpPr>
          <p:cNvPr id="15" name="Shape 13"/>
          <p:cNvSpPr/>
          <p:nvPr/>
        </p:nvSpPr>
        <p:spPr>
          <a:xfrm>
            <a:off x="2331720" y="2606040"/>
            <a:ext cx="1600200" cy="1600200"/>
          </a:xfrm>
          <a:prstGeom prst="rect">
            <a:avLst/>
          </a:prstGeom>
          <a:solidFill>
            <a:srgbClr val="EEECE1"/>
          </a:solidFill>
          <a:ln w="25400">
            <a:solidFill>
              <a:srgbClr val="707070"/>
            </a:solidFill>
            <a:prstDash val="solid"/>
          </a:ln>
        </p:spPr>
      </p:sp>
      <p:sp>
        <p:nvSpPr>
          <p:cNvPr id="16" name="Text 14"/>
          <p:cNvSpPr/>
          <p:nvPr/>
        </p:nvSpPr>
        <p:spPr>
          <a:xfrm>
            <a:off x="2468880" y="2880360"/>
            <a:ext cx="1325880" cy="365760"/>
          </a:xfrm>
          <a:prstGeom prst="rect">
            <a:avLst/>
          </a:prstGeom>
          <a:noFill/>
          <a:ln/>
        </p:spPr>
        <p:txBody>
          <a:bodyPr wrap="square" rtlCol="0" anchor="ctr"/>
          <a:lstStyle/>
          <a:p>
            <a:pPr algn="ctr" indent="0" marL="0">
              <a:buNone/>
            </a:pPr>
            <a:r>
              <a:rPr lang="en-US" sz="1300" b="1" dirty="0">
                <a:solidFill>
                  <a:srgbClr val="1F2120"/>
                </a:solidFill>
                <a:latin typeface="Arial Black" pitchFamily="34" charset="0"/>
                <a:ea typeface="Arial Black" pitchFamily="34" charset="-122"/>
                <a:cs typeface="Arial Black" pitchFamily="34" charset="-120"/>
              </a:rPr>
              <a:t>Agents</a:t>
            </a:r>
            <a:endParaRPr lang="en-US" sz="1300" dirty="0"/>
          </a:p>
        </p:txBody>
      </p:sp>
      <p:sp>
        <p:nvSpPr>
          <p:cNvPr id="17" name="Text 15"/>
          <p:cNvSpPr/>
          <p:nvPr/>
        </p:nvSpPr>
        <p:spPr>
          <a:xfrm>
            <a:off x="2468880" y="3337560"/>
            <a:ext cx="1325880" cy="457200"/>
          </a:xfrm>
          <a:prstGeom prst="rect">
            <a:avLst/>
          </a:prstGeom>
          <a:noFill/>
          <a:ln/>
        </p:spPr>
        <p:txBody>
          <a:bodyPr wrap="square" rtlCol="0" anchor="ctr"/>
          <a:lstStyle/>
          <a:p>
            <a:pPr algn="ctr" indent="0" marL="0">
              <a:buNone/>
            </a:pPr>
            <a:r>
              <a:rPr lang="en-US" sz="900" dirty="0">
                <a:solidFill>
                  <a:srgbClr val="1F2120"/>
                </a:solidFill>
              </a:rPr>
              <a:t>Advanced,</a:t>
            </a:r>
            <a:endParaRPr lang="en-US" sz="900" dirty="0"/>
          </a:p>
          <a:p>
            <a:pPr algn="ctr" indent="0" marL="0">
              <a:buNone/>
            </a:pPr>
            <a:r>
              <a:rPr lang="en-US" sz="900" dirty="0">
                <a:solidFill>
                  <a:srgbClr val="1F2120"/>
                </a:solidFill>
              </a:rPr>
              <a:t>not for most yet</a:t>
            </a:r>
            <a:endParaRPr lang="en-US" sz="900" dirty="0"/>
          </a:p>
        </p:txBody>
      </p:sp>
      <p:sp>
        <p:nvSpPr>
          <p:cNvPr id="18" name="Text 16"/>
          <p:cNvSpPr/>
          <p:nvPr/>
        </p:nvSpPr>
        <p:spPr>
          <a:xfrm>
            <a:off x="411480" y="2468880"/>
            <a:ext cx="274320" cy="274320"/>
          </a:xfrm>
          <a:prstGeom prst="rect">
            <a:avLst/>
          </a:prstGeom>
          <a:noFill/>
          <a:ln/>
        </p:spPr>
        <p:txBody>
          <a:bodyPr wrap="square" rtlCol="0" anchor="ctr"/>
          <a:lstStyle/>
          <a:p>
            <a:pPr indent="0" marL="0">
              <a:buNone/>
            </a:pPr>
            <a:r>
              <a:rPr lang="en-US" sz="1000" b="1" dirty="0">
                <a:solidFill>
                  <a:srgbClr val="1F2120"/>
                </a:solidFill>
              </a:rPr>
              <a:t>Low</a:t>
            </a:r>
            <a:endParaRPr lang="en-US" sz="1000" dirty="0"/>
          </a:p>
        </p:txBody>
      </p:sp>
      <p:sp>
        <p:nvSpPr>
          <p:cNvPr id="19" name="Text 17"/>
          <p:cNvSpPr/>
          <p:nvPr/>
        </p:nvSpPr>
        <p:spPr>
          <a:xfrm>
            <a:off x="411480" y="777240"/>
            <a:ext cx="274320" cy="274320"/>
          </a:xfrm>
          <a:prstGeom prst="rect">
            <a:avLst/>
          </a:prstGeom>
          <a:noFill/>
          <a:ln/>
        </p:spPr>
        <p:txBody>
          <a:bodyPr wrap="square" rtlCol="0" anchor="ctr"/>
          <a:lstStyle/>
          <a:p>
            <a:pPr indent="0" marL="0">
              <a:buNone/>
            </a:pPr>
            <a:r>
              <a:rPr lang="en-US" sz="1000" b="1" dirty="0">
                <a:solidFill>
                  <a:srgbClr val="1F2120"/>
                </a:solidFill>
              </a:rPr>
              <a:t>High</a:t>
            </a:r>
            <a:endParaRPr lang="en-US" sz="1000" dirty="0"/>
          </a:p>
        </p:txBody>
      </p:sp>
      <p:sp>
        <p:nvSpPr>
          <p:cNvPr id="20" name="Text 18"/>
          <p:cNvSpPr/>
          <p:nvPr/>
        </p:nvSpPr>
        <p:spPr>
          <a:xfrm>
            <a:off x="2194560" y="4434840"/>
            <a:ext cx="274320" cy="274320"/>
          </a:xfrm>
          <a:prstGeom prst="rect">
            <a:avLst/>
          </a:prstGeom>
          <a:noFill/>
          <a:ln/>
        </p:spPr>
        <p:txBody>
          <a:bodyPr wrap="square" rtlCol="0" anchor="ctr"/>
          <a:lstStyle/>
          <a:p>
            <a:pPr indent="0" marL="0">
              <a:buNone/>
            </a:pPr>
            <a:r>
              <a:rPr lang="en-US" sz="1000" b="1" dirty="0">
                <a:solidFill>
                  <a:srgbClr val="1F2120"/>
                </a:solidFill>
              </a:rPr>
              <a:t>Low</a:t>
            </a:r>
            <a:endParaRPr lang="en-US" sz="1000" dirty="0"/>
          </a:p>
        </p:txBody>
      </p:sp>
      <p:sp>
        <p:nvSpPr>
          <p:cNvPr id="21" name="Text 19"/>
          <p:cNvSpPr/>
          <p:nvPr/>
        </p:nvSpPr>
        <p:spPr>
          <a:xfrm>
            <a:off x="3657600" y="4434840"/>
            <a:ext cx="274320" cy="274320"/>
          </a:xfrm>
          <a:prstGeom prst="rect">
            <a:avLst/>
          </a:prstGeom>
          <a:noFill/>
          <a:ln/>
        </p:spPr>
        <p:txBody>
          <a:bodyPr wrap="square" rtlCol="0" anchor="ctr"/>
          <a:lstStyle/>
          <a:p>
            <a:pPr indent="0" marL="0">
              <a:buNone/>
            </a:pPr>
            <a:r>
              <a:rPr lang="en-US" sz="1000" b="1" dirty="0">
                <a:solidFill>
                  <a:srgbClr val="1F2120"/>
                </a:solidFill>
              </a:rPr>
              <a:t>High</a:t>
            </a:r>
            <a:endParaRPr lang="en-US" sz="1000" dirty="0"/>
          </a:p>
        </p:txBody>
      </p:sp>
      <p:sp>
        <p:nvSpPr>
          <p:cNvPr id="22" name="Text 20"/>
          <p:cNvSpPr/>
          <p:nvPr/>
        </p:nvSpPr>
        <p:spPr>
          <a:xfrm>
            <a:off x="2103120" y="4754880"/>
            <a:ext cx="1371600" cy="228600"/>
          </a:xfrm>
          <a:prstGeom prst="rect">
            <a:avLst/>
          </a:prstGeom>
          <a:noFill/>
          <a:ln/>
        </p:spPr>
        <p:txBody>
          <a:bodyPr wrap="square" rtlCol="0" anchor="ctr"/>
          <a:lstStyle/>
          <a:p>
            <a:pPr algn="ctr" indent="0" marL="0">
              <a:buNone/>
            </a:pPr>
            <a:r>
              <a:rPr lang="en-US" sz="1100" b="1" dirty="0">
                <a:solidFill>
                  <a:srgbClr val="1F2120"/>
                </a:solidFill>
              </a:rPr>
              <a:t>Automation</a:t>
            </a:r>
            <a:endParaRPr lang="en-US" sz="1100" dirty="0"/>
          </a:p>
        </p:txBody>
      </p:sp>
      <p:sp>
        <p:nvSpPr>
          <p:cNvPr id="23" name="Text 21"/>
          <p:cNvSpPr/>
          <p:nvPr/>
        </p:nvSpPr>
        <p:spPr>
          <a:xfrm rot="16200000">
            <a:off x="91440" y="2331720"/>
            <a:ext cx="1097280" cy="457200"/>
          </a:xfrm>
          <a:prstGeom prst="rect">
            <a:avLst/>
          </a:prstGeom>
          <a:noFill/>
          <a:ln/>
        </p:spPr>
        <p:txBody>
          <a:bodyPr wrap="square" rtlCol="0" anchor="ctr"/>
          <a:lstStyle/>
          <a:p>
            <a:pPr indent="0" marL="0">
              <a:buNone/>
            </a:pPr>
            <a:r>
              <a:rPr lang="en-US" sz="1100" b="1" dirty="0">
                <a:solidFill>
                  <a:srgbClr val="1F2120"/>
                </a:solidFill>
              </a:rPr>
              <a:t>Integration</a:t>
            </a:r>
            <a:endParaRPr lang="en-US" sz="1100" dirty="0"/>
          </a:p>
        </p:txBody>
      </p:sp>
      <p:sp>
        <p:nvSpPr>
          <p:cNvPr id="24" name="Text 22"/>
          <p:cNvSpPr/>
          <p:nvPr/>
        </p:nvSpPr>
        <p:spPr>
          <a:xfrm>
            <a:off x="4754880" y="1188720"/>
            <a:ext cx="3931920" cy="2743200"/>
          </a:xfrm>
          <a:prstGeom prst="rect">
            <a:avLst/>
          </a:prstGeom>
          <a:noFill/>
          <a:ln/>
        </p:spPr>
        <p:txBody>
          <a:bodyPr wrap="square" rtlCol="0" anchor="ctr"/>
          <a:lstStyle/>
          <a:p>
            <a:pPr indent="0" marL="0">
              <a:buNone/>
            </a:pPr>
            <a:r>
              <a:rPr lang="en-US" sz="1100" dirty="0">
                <a:solidFill>
                  <a:srgbClr val="1F2120"/>
                </a:solidFill>
              </a:rPr>
              <a:t>These four types cover the range from "I ask it a question" all the way to "it runs completely on its own in my tool." Most of you will start in Assistants and gradually move to other types as you scale.</a:t>
            </a:r>
            <a:endParaRPr lang="en-US" sz="1100" dirty="0"/>
          </a:p>
        </p:txBody>
      </p:sp>
      <p:sp>
        <p:nvSpPr>
          <p:cNvPr id="25" name="Shape 23"/>
          <p:cNvSpPr/>
          <p:nvPr/>
        </p:nvSpPr>
        <p:spPr>
          <a:xfrm>
            <a:off x="8503920" y="4572000"/>
            <a:ext cx="182880" cy="182880"/>
          </a:xfrm>
          <a:prstGeom prst="triangle">
            <a:avLst/>
          </a:prstGeom>
          <a:solidFill>
            <a:srgbClr val="CF3338"/>
          </a:solidFill>
          <a:ln/>
        </p:spPr>
      </p:sp>
      <p:sp>
        <p:nvSpPr>
          <p:cNvPr id="26" name="Shape 24"/>
          <p:cNvSpPr/>
          <p:nvPr/>
        </p:nvSpPr>
        <p:spPr>
          <a:xfrm>
            <a:off x="8668512" y="4736592"/>
            <a:ext cx="182880" cy="182880"/>
          </a:xfrm>
          <a:prstGeom prst="triangle">
            <a:avLst/>
          </a:prstGeom>
          <a:solidFill>
            <a:srgbClr val="CF3338"/>
          </a:solidFill>
          <a:ln/>
        </p:spPr>
      </p:sp>
      <p:sp>
        <p:nvSpPr>
          <p:cNvPr id="27" name="Shape 25"/>
          <p:cNvSpPr/>
          <p:nvPr/>
        </p:nvSpPr>
        <p:spPr>
          <a:xfrm>
            <a:off x="8833104" y="4901184"/>
            <a:ext cx="182880" cy="182880"/>
          </a:xfrm>
          <a:prstGeom prst="triangle">
            <a:avLst/>
          </a:prstGeom>
          <a:solidFill>
            <a:srgbClr val="CF3338"/>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Assistants: The Starting Point</a:t>
            </a:r>
            <a:endParaRPr lang="en-US" sz="2800" dirty="0"/>
          </a:p>
        </p:txBody>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Examples of Assistant Tools:</a:t>
            </a:r>
            <a:endParaRPr lang="en-US" sz="1400" dirty="0"/>
          </a:p>
        </p:txBody>
      </p:sp>
      <p:sp>
        <p:nvSpPr>
          <p:cNvPr id="5" name="Shape 3"/>
          <p:cNvSpPr/>
          <p:nvPr/>
        </p:nvSpPr>
        <p:spPr>
          <a:xfrm>
            <a:off x="640080" y="1399032"/>
            <a:ext cx="91440" cy="91440"/>
          </a:xfrm>
          <a:prstGeom prst="ellipse">
            <a:avLst/>
          </a:prstGeom>
          <a:solidFill>
            <a:srgbClr val="CF3338"/>
          </a:solidFill>
          <a:ln/>
        </p:spPr>
      </p:sp>
      <p:sp>
        <p:nvSpPr>
          <p:cNvPr id="6" name="Text 4"/>
          <p:cNvSpPr/>
          <p:nvPr/>
        </p:nvSpPr>
        <p:spPr>
          <a:xfrm>
            <a:off x="1005840" y="1325880"/>
            <a:ext cx="7680960" cy="274320"/>
          </a:xfrm>
          <a:prstGeom prst="rect">
            <a:avLst/>
          </a:prstGeom>
          <a:noFill/>
          <a:ln/>
        </p:spPr>
        <p:txBody>
          <a:bodyPr wrap="square" rtlCol="0" anchor="ctr"/>
          <a:lstStyle/>
          <a:p>
            <a:pPr indent="0" marL="0">
              <a:buNone/>
            </a:pPr>
            <a:r>
              <a:rPr lang="en-US" sz="1200" dirty="0">
                <a:solidFill>
                  <a:srgbClr val="1F2120"/>
                </a:solidFill>
              </a:rPr>
              <a:t>ChatGPT (openai.com)</a:t>
            </a:r>
            <a:endParaRPr lang="en-US" sz="1200" dirty="0"/>
          </a:p>
        </p:txBody>
      </p:sp>
      <p:sp>
        <p:nvSpPr>
          <p:cNvPr id="7" name="Shape 5"/>
          <p:cNvSpPr/>
          <p:nvPr/>
        </p:nvSpPr>
        <p:spPr>
          <a:xfrm>
            <a:off x="640080" y="1764792"/>
            <a:ext cx="91440" cy="91440"/>
          </a:xfrm>
          <a:prstGeom prst="ellipse">
            <a:avLst/>
          </a:prstGeom>
          <a:solidFill>
            <a:srgbClr val="CF3338"/>
          </a:solidFill>
          <a:ln/>
        </p:spPr>
      </p:sp>
      <p:sp>
        <p:nvSpPr>
          <p:cNvPr id="8" name="Text 6"/>
          <p:cNvSpPr/>
          <p:nvPr/>
        </p:nvSpPr>
        <p:spPr>
          <a:xfrm>
            <a:off x="1005840" y="1691640"/>
            <a:ext cx="7680960" cy="274320"/>
          </a:xfrm>
          <a:prstGeom prst="rect">
            <a:avLst/>
          </a:prstGeom>
          <a:noFill/>
          <a:ln/>
        </p:spPr>
        <p:txBody>
          <a:bodyPr wrap="square" rtlCol="0" anchor="ctr"/>
          <a:lstStyle/>
          <a:p>
            <a:pPr indent="0" marL="0">
              <a:buNone/>
            </a:pPr>
            <a:r>
              <a:rPr lang="en-US" sz="1200" dirty="0">
                <a:solidFill>
                  <a:srgbClr val="1F2120"/>
                </a:solidFill>
              </a:rPr>
              <a:t>Claude (claude.ai)</a:t>
            </a:r>
            <a:endParaRPr lang="en-US" sz="1200" dirty="0"/>
          </a:p>
        </p:txBody>
      </p:sp>
      <p:sp>
        <p:nvSpPr>
          <p:cNvPr id="9" name="Shape 7"/>
          <p:cNvSpPr/>
          <p:nvPr/>
        </p:nvSpPr>
        <p:spPr>
          <a:xfrm>
            <a:off x="640080" y="2130552"/>
            <a:ext cx="91440" cy="91440"/>
          </a:xfrm>
          <a:prstGeom prst="ellipse">
            <a:avLst/>
          </a:prstGeom>
          <a:solidFill>
            <a:srgbClr val="CF3338"/>
          </a:solidFill>
          <a:ln/>
        </p:spPr>
      </p:sp>
      <p:sp>
        <p:nvSpPr>
          <p:cNvPr id="10" name="Text 8"/>
          <p:cNvSpPr/>
          <p:nvPr/>
        </p:nvSpPr>
        <p:spPr>
          <a:xfrm>
            <a:off x="1005840" y="2057400"/>
            <a:ext cx="7680960" cy="274320"/>
          </a:xfrm>
          <a:prstGeom prst="rect">
            <a:avLst/>
          </a:prstGeom>
          <a:noFill/>
          <a:ln/>
        </p:spPr>
        <p:txBody>
          <a:bodyPr wrap="square" rtlCol="0" anchor="ctr"/>
          <a:lstStyle/>
          <a:p>
            <a:pPr indent="0" marL="0">
              <a:buNone/>
            </a:pPr>
            <a:r>
              <a:rPr lang="en-US" sz="1200" dirty="0">
                <a:solidFill>
                  <a:srgbClr val="1F2120"/>
                </a:solidFill>
              </a:rPr>
              <a:t>Gemini (google.com/gemini)</a:t>
            </a:r>
            <a:endParaRPr lang="en-US" sz="1200" dirty="0"/>
          </a:p>
        </p:txBody>
      </p:sp>
      <p:sp>
        <p:nvSpPr>
          <p:cNvPr id="11" name="Text 9"/>
          <p:cNvSpPr/>
          <p:nvPr/>
        </p:nvSpPr>
        <p:spPr>
          <a:xfrm>
            <a:off x="457200" y="2743200"/>
            <a:ext cx="8229600" cy="32004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What Assistants Do Well:</a:t>
            </a:r>
            <a:endParaRPr lang="en-US" sz="1400" dirty="0"/>
          </a:p>
        </p:txBody>
      </p:sp>
      <p:sp>
        <p:nvSpPr>
          <p:cNvPr id="12" name="Shape 10"/>
          <p:cNvSpPr/>
          <p:nvPr/>
        </p:nvSpPr>
        <p:spPr>
          <a:xfrm>
            <a:off x="640080" y="3182112"/>
            <a:ext cx="91440" cy="91440"/>
          </a:xfrm>
          <a:prstGeom prst="ellipse">
            <a:avLst/>
          </a:prstGeom>
          <a:solidFill>
            <a:srgbClr val="CF3338"/>
          </a:solidFill>
          <a:ln/>
        </p:spPr>
      </p:sp>
      <p:sp>
        <p:nvSpPr>
          <p:cNvPr id="13" name="Text 11"/>
          <p:cNvSpPr/>
          <p:nvPr/>
        </p:nvSpPr>
        <p:spPr>
          <a:xfrm>
            <a:off x="1005840" y="3108960"/>
            <a:ext cx="7680960" cy="274320"/>
          </a:xfrm>
          <a:prstGeom prst="rect">
            <a:avLst/>
          </a:prstGeom>
          <a:noFill/>
          <a:ln/>
        </p:spPr>
        <p:txBody>
          <a:bodyPr wrap="square" rtlCol="0" anchor="ctr"/>
          <a:lstStyle/>
          <a:p>
            <a:pPr indent="0" marL="0">
              <a:buNone/>
            </a:pPr>
            <a:r>
              <a:rPr lang="en-US" sz="1200" dirty="0">
                <a:solidFill>
                  <a:srgbClr val="1F2120"/>
                </a:solidFill>
              </a:rPr>
              <a:t>Draft emails, summaries, documents</a:t>
            </a:r>
            <a:endParaRPr lang="en-US" sz="1200" dirty="0"/>
          </a:p>
        </p:txBody>
      </p:sp>
      <p:sp>
        <p:nvSpPr>
          <p:cNvPr id="14" name="Shape 12"/>
          <p:cNvSpPr/>
          <p:nvPr/>
        </p:nvSpPr>
        <p:spPr>
          <a:xfrm>
            <a:off x="640080" y="3502152"/>
            <a:ext cx="91440" cy="91440"/>
          </a:xfrm>
          <a:prstGeom prst="ellipse">
            <a:avLst/>
          </a:prstGeom>
          <a:solidFill>
            <a:srgbClr val="CF3338"/>
          </a:solidFill>
          <a:ln/>
        </p:spPr>
      </p:sp>
      <p:sp>
        <p:nvSpPr>
          <p:cNvPr id="15" name="Text 13"/>
          <p:cNvSpPr/>
          <p:nvPr/>
        </p:nvSpPr>
        <p:spPr>
          <a:xfrm>
            <a:off x="1005840" y="3429000"/>
            <a:ext cx="7680960" cy="274320"/>
          </a:xfrm>
          <a:prstGeom prst="rect">
            <a:avLst/>
          </a:prstGeom>
          <a:noFill/>
          <a:ln/>
        </p:spPr>
        <p:txBody>
          <a:bodyPr wrap="square" rtlCol="0" anchor="ctr"/>
          <a:lstStyle/>
          <a:p>
            <a:pPr indent="0" marL="0">
              <a:buNone/>
            </a:pPr>
            <a:r>
              <a:rPr lang="en-US" sz="1200" dirty="0">
                <a:solidFill>
                  <a:srgbClr val="1F2120"/>
                </a:solidFill>
              </a:rPr>
              <a:t>Write or fix code and formulas</a:t>
            </a:r>
            <a:endParaRPr lang="en-US" sz="1200" dirty="0"/>
          </a:p>
        </p:txBody>
      </p:sp>
      <p:sp>
        <p:nvSpPr>
          <p:cNvPr id="16" name="Shape 14"/>
          <p:cNvSpPr/>
          <p:nvPr/>
        </p:nvSpPr>
        <p:spPr>
          <a:xfrm>
            <a:off x="640080" y="3822192"/>
            <a:ext cx="91440" cy="91440"/>
          </a:xfrm>
          <a:prstGeom prst="ellipse">
            <a:avLst/>
          </a:prstGeom>
          <a:solidFill>
            <a:srgbClr val="CF3338"/>
          </a:solidFill>
          <a:ln/>
        </p:spPr>
      </p:sp>
      <p:sp>
        <p:nvSpPr>
          <p:cNvPr id="17" name="Text 15"/>
          <p:cNvSpPr/>
          <p:nvPr/>
        </p:nvSpPr>
        <p:spPr>
          <a:xfrm>
            <a:off x="1005840" y="3749040"/>
            <a:ext cx="7680960" cy="274320"/>
          </a:xfrm>
          <a:prstGeom prst="rect">
            <a:avLst/>
          </a:prstGeom>
          <a:noFill/>
          <a:ln/>
        </p:spPr>
        <p:txBody>
          <a:bodyPr wrap="square" rtlCol="0" anchor="ctr"/>
          <a:lstStyle/>
          <a:p>
            <a:pPr indent="0" marL="0">
              <a:buNone/>
            </a:pPr>
            <a:r>
              <a:rPr lang="en-US" sz="1200" dirty="0">
                <a:solidFill>
                  <a:srgbClr val="1F2120"/>
                </a:solidFill>
              </a:rPr>
              <a:t>Explain concepts or break down problems</a:t>
            </a:r>
            <a:endParaRPr lang="en-US" sz="1200" dirty="0"/>
          </a:p>
        </p:txBody>
      </p:sp>
      <p:sp>
        <p:nvSpPr>
          <p:cNvPr id="18" name="Shape 16"/>
          <p:cNvSpPr/>
          <p:nvPr/>
        </p:nvSpPr>
        <p:spPr>
          <a:xfrm>
            <a:off x="640080" y="4142232"/>
            <a:ext cx="91440" cy="91440"/>
          </a:xfrm>
          <a:prstGeom prst="ellipse">
            <a:avLst/>
          </a:prstGeom>
          <a:solidFill>
            <a:srgbClr val="CF3338"/>
          </a:solidFill>
          <a:ln/>
        </p:spPr>
      </p:sp>
      <p:sp>
        <p:nvSpPr>
          <p:cNvPr id="19" name="Text 17"/>
          <p:cNvSpPr/>
          <p:nvPr/>
        </p:nvSpPr>
        <p:spPr>
          <a:xfrm>
            <a:off x="1005840" y="4069080"/>
            <a:ext cx="7680960" cy="274320"/>
          </a:xfrm>
          <a:prstGeom prst="rect">
            <a:avLst/>
          </a:prstGeom>
          <a:noFill/>
          <a:ln/>
        </p:spPr>
        <p:txBody>
          <a:bodyPr wrap="square" rtlCol="0" anchor="ctr"/>
          <a:lstStyle/>
          <a:p>
            <a:pPr indent="0" marL="0">
              <a:buNone/>
            </a:pPr>
            <a:r>
              <a:rPr lang="en-US" sz="1200" dirty="0">
                <a:solidFill>
                  <a:srgbClr val="1F2120"/>
                </a:solidFill>
              </a:rPr>
              <a:t>Brainstorm ideas</a:t>
            </a:r>
            <a:endParaRPr lang="en-US" sz="1200" dirty="0"/>
          </a:p>
        </p:txBody>
      </p:sp>
      <p:sp>
        <p:nvSpPr>
          <p:cNvPr id="20" name="Shape 18"/>
          <p:cNvSpPr/>
          <p:nvPr/>
        </p:nvSpPr>
        <p:spPr>
          <a:xfrm>
            <a:off x="640080" y="4462272"/>
            <a:ext cx="91440" cy="91440"/>
          </a:xfrm>
          <a:prstGeom prst="ellipse">
            <a:avLst/>
          </a:prstGeom>
          <a:solidFill>
            <a:srgbClr val="CF3338"/>
          </a:solidFill>
          <a:ln/>
        </p:spPr>
      </p:sp>
      <p:sp>
        <p:nvSpPr>
          <p:cNvPr id="21" name="Text 19"/>
          <p:cNvSpPr/>
          <p:nvPr/>
        </p:nvSpPr>
        <p:spPr>
          <a:xfrm>
            <a:off x="1005840" y="4389120"/>
            <a:ext cx="7680960" cy="274320"/>
          </a:xfrm>
          <a:prstGeom prst="rect">
            <a:avLst/>
          </a:prstGeom>
          <a:noFill/>
          <a:ln/>
        </p:spPr>
        <p:txBody>
          <a:bodyPr wrap="square" rtlCol="0" anchor="ctr"/>
          <a:lstStyle/>
          <a:p>
            <a:pPr indent="0" marL="0">
              <a:buNone/>
            </a:pPr>
            <a:r>
              <a:rPr lang="en-US" sz="1200" dirty="0">
                <a:solidFill>
                  <a:srgbClr val="1F2120"/>
                </a:solidFill>
              </a:rPr>
              <a:t>Transform data (CSV to JSON, etc.)</a:t>
            </a:r>
            <a:endParaRPr lang="en-US" sz="1200" dirty="0"/>
          </a:p>
        </p:txBody>
      </p:sp>
      <p:sp>
        <p:nvSpPr>
          <p:cNvPr id="22" name="Shape 20"/>
          <p:cNvSpPr/>
          <p:nvPr/>
        </p:nvSpPr>
        <p:spPr>
          <a:xfrm>
            <a:off x="8503920" y="4572000"/>
            <a:ext cx="182880" cy="182880"/>
          </a:xfrm>
          <a:prstGeom prst="triangle">
            <a:avLst/>
          </a:prstGeom>
          <a:solidFill>
            <a:srgbClr val="CF3338"/>
          </a:solidFill>
          <a:ln/>
        </p:spPr>
      </p:sp>
      <p:sp>
        <p:nvSpPr>
          <p:cNvPr id="23" name="Shape 21"/>
          <p:cNvSpPr/>
          <p:nvPr/>
        </p:nvSpPr>
        <p:spPr>
          <a:xfrm>
            <a:off x="8668512" y="4736592"/>
            <a:ext cx="182880" cy="182880"/>
          </a:xfrm>
          <a:prstGeom prst="triangle">
            <a:avLst/>
          </a:prstGeom>
          <a:solidFill>
            <a:srgbClr val="CF3338"/>
          </a:solidFill>
          <a:ln/>
        </p:spPr>
      </p:sp>
      <p:sp>
        <p:nvSpPr>
          <p:cNvPr id="24" name="Shape 22"/>
          <p:cNvSpPr/>
          <p:nvPr/>
        </p:nvSpPr>
        <p:spPr>
          <a:xfrm>
            <a:off x="8833104" y="4901184"/>
            <a:ext cx="182880" cy="182880"/>
          </a:xfrm>
          <a:prstGeom prst="triangle">
            <a:avLst/>
          </a:prstGeom>
          <a:solidFill>
            <a:srgbClr val="CF3338"/>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Copilots: When You Need Integration</a:t>
            </a:r>
            <a:endParaRPr lang="en-US" sz="2800" dirty="0"/>
          </a:p>
        </p:txBody>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What Copilots Add:</a:t>
            </a:r>
            <a:endParaRPr lang="en-US" sz="1400" dirty="0"/>
          </a:p>
        </p:txBody>
      </p:sp>
      <p:sp>
        <p:nvSpPr>
          <p:cNvPr id="5" name="Text 3"/>
          <p:cNvSpPr/>
          <p:nvPr/>
        </p:nvSpPr>
        <p:spPr>
          <a:xfrm>
            <a:off x="457200" y="1325880"/>
            <a:ext cx="8229600" cy="548640"/>
          </a:xfrm>
          <a:prstGeom prst="rect">
            <a:avLst/>
          </a:prstGeom>
          <a:noFill/>
          <a:ln/>
        </p:spPr>
        <p:txBody>
          <a:bodyPr wrap="square" rtlCol="0" anchor="ctr"/>
          <a:lstStyle/>
          <a:p>
            <a:pPr indent="0" marL="0">
              <a:buNone/>
            </a:pPr>
            <a:r>
              <a:rPr lang="en-US" sz="1200" dirty="0">
                <a:solidFill>
                  <a:srgbClr val="1F2120"/>
                </a:solidFill>
              </a:rPr>
              <a:t>They work INSIDE your tools. Click a button in Excel, and the AI works on your data right there. No switching tabs, no copy-paste.</a:t>
            </a:r>
            <a:endParaRPr lang="en-US" sz="1200" dirty="0"/>
          </a:p>
        </p:txBody>
      </p:sp>
      <p:sp>
        <p:nvSpPr>
          <p:cNvPr id="6" name="Text 4"/>
          <p:cNvSpPr/>
          <p:nvPr/>
        </p:nvSpPr>
        <p:spPr>
          <a:xfrm>
            <a:off x="457200" y="1965960"/>
            <a:ext cx="8229600" cy="32004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Examples:</a:t>
            </a:r>
            <a:endParaRPr lang="en-US" sz="1400" dirty="0"/>
          </a:p>
        </p:txBody>
      </p:sp>
      <p:sp>
        <p:nvSpPr>
          <p:cNvPr id="7" name="Shape 5"/>
          <p:cNvSpPr/>
          <p:nvPr/>
        </p:nvSpPr>
        <p:spPr>
          <a:xfrm>
            <a:off x="640080" y="2404872"/>
            <a:ext cx="91440" cy="91440"/>
          </a:xfrm>
          <a:prstGeom prst="ellipse">
            <a:avLst/>
          </a:prstGeom>
          <a:solidFill>
            <a:srgbClr val="CF3338"/>
          </a:solidFill>
          <a:ln/>
        </p:spPr>
      </p:sp>
      <p:sp>
        <p:nvSpPr>
          <p:cNvPr id="8" name="Text 6"/>
          <p:cNvSpPr/>
          <p:nvPr/>
        </p:nvSpPr>
        <p:spPr>
          <a:xfrm>
            <a:off x="1005840" y="2331720"/>
            <a:ext cx="7680960" cy="274320"/>
          </a:xfrm>
          <a:prstGeom prst="rect">
            <a:avLst/>
          </a:prstGeom>
          <a:noFill/>
          <a:ln/>
        </p:spPr>
        <p:txBody>
          <a:bodyPr wrap="square" rtlCol="0" anchor="ctr"/>
          <a:lstStyle/>
          <a:p>
            <a:pPr indent="0" marL="0">
              <a:buNone/>
            </a:pPr>
            <a:r>
              <a:rPr lang="en-US" sz="1200" dirty="0">
                <a:solidFill>
                  <a:srgbClr val="1F2120"/>
                </a:solidFill>
              </a:rPr>
              <a:t>Excel Copilot: Analyze data, create pivot tables, write formulas</a:t>
            </a:r>
            <a:endParaRPr lang="en-US" sz="1200" dirty="0"/>
          </a:p>
        </p:txBody>
      </p:sp>
      <p:sp>
        <p:nvSpPr>
          <p:cNvPr id="9" name="Shape 7"/>
          <p:cNvSpPr/>
          <p:nvPr/>
        </p:nvSpPr>
        <p:spPr>
          <a:xfrm>
            <a:off x="640080" y="2724912"/>
            <a:ext cx="91440" cy="91440"/>
          </a:xfrm>
          <a:prstGeom prst="ellipse">
            <a:avLst/>
          </a:prstGeom>
          <a:solidFill>
            <a:srgbClr val="CF3338"/>
          </a:solidFill>
          <a:ln/>
        </p:spPr>
      </p:sp>
      <p:sp>
        <p:nvSpPr>
          <p:cNvPr id="10" name="Text 8"/>
          <p:cNvSpPr/>
          <p:nvPr/>
        </p:nvSpPr>
        <p:spPr>
          <a:xfrm>
            <a:off x="1005840" y="2651760"/>
            <a:ext cx="7680960" cy="274320"/>
          </a:xfrm>
          <a:prstGeom prst="rect">
            <a:avLst/>
          </a:prstGeom>
          <a:noFill/>
          <a:ln/>
        </p:spPr>
        <p:txBody>
          <a:bodyPr wrap="square" rtlCol="0" anchor="ctr"/>
          <a:lstStyle/>
          <a:p>
            <a:pPr indent="0" marL="0">
              <a:buNone/>
            </a:pPr>
            <a:r>
              <a:rPr lang="en-US" sz="1200" dirty="0">
                <a:solidFill>
                  <a:srgbClr val="1F2120"/>
                </a:solidFill>
              </a:rPr>
              <a:t>Word Copilot: Draft sections, summarize documents, rewrite for tone</a:t>
            </a:r>
            <a:endParaRPr lang="en-US" sz="1200" dirty="0"/>
          </a:p>
        </p:txBody>
      </p:sp>
      <p:sp>
        <p:nvSpPr>
          <p:cNvPr id="11" name="Shape 9"/>
          <p:cNvSpPr/>
          <p:nvPr/>
        </p:nvSpPr>
        <p:spPr>
          <a:xfrm>
            <a:off x="640080" y="3044952"/>
            <a:ext cx="91440" cy="91440"/>
          </a:xfrm>
          <a:prstGeom prst="ellipse">
            <a:avLst/>
          </a:prstGeom>
          <a:solidFill>
            <a:srgbClr val="CF3338"/>
          </a:solidFill>
          <a:ln/>
        </p:spPr>
      </p:sp>
      <p:sp>
        <p:nvSpPr>
          <p:cNvPr id="12" name="Text 10"/>
          <p:cNvSpPr/>
          <p:nvPr/>
        </p:nvSpPr>
        <p:spPr>
          <a:xfrm>
            <a:off x="1005840" y="2971800"/>
            <a:ext cx="7680960" cy="274320"/>
          </a:xfrm>
          <a:prstGeom prst="rect">
            <a:avLst/>
          </a:prstGeom>
          <a:noFill/>
          <a:ln/>
        </p:spPr>
        <p:txBody>
          <a:bodyPr wrap="square" rtlCol="0" anchor="ctr"/>
          <a:lstStyle/>
          <a:p>
            <a:pPr indent="0" marL="0">
              <a:buNone/>
            </a:pPr>
            <a:r>
              <a:rPr lang="en-US" sz="1200" dirty="0">
                <a:solidFill>
                  <a:srgbClr val="1F2120"/>
                </a:solidFill>
              </a:rPr>
              <a:t>GitHub Copilot: Write code faster, suggest functions</a:t>
            </a:r>
            <a:endParaRPr lang="en-US" sz="1200" dirty="0"/>
          </a:p>
        </p:txBody>
      </p:sp>
      <p:sp>
        <p:nvSpPr>
          <p:cNvPr id="13" name="Shape 11"/>
          <p:cNvSpPr/>
          <p:nvPr/>
        </p:nvSpPr>
        <p:spPr>
          <a:xfrm>
            <a:off x="640080" y="3364992"/>
            <a:ext cx="91440" cy="91440"/>
          </a:xfrm>
          <a:prstGeom prst="ellipse">
            <a:avLst/>
          </a:prstGeom>
          <a:solidFill>
            <a:srgbClr val="CF3338"/>
          </a:solidFill>
          <a:ln/>
        </p:spPr>
      </p:sp>
      <p:sp>
        <p:nvSpPr>
          <p:cNvPr id="14" name="Text 12"/>
          <p:cNvSpPr/>
          <p:nvPr/>
        </p:nvSpPr>
        <p:spPr>
          <a:xfrm>
            <a:off x="1005840" y="3291840"/>
            <a:ext cx="7680960" cy="274320"/>
          </a:xfrm>
          <a:prstGeom prst="rect">
            <a:avLst/>
          </a:prstGeom>
          <a:noFill/>
          <a:ln/>
        </p:spPr>
        <p:txBody>
          <a:bodyPr wrap="square" rtlCol="0" anchor="ctr"/>
          <a:lstStyle/>
          <a:p>
            <a:pPr indent="0" marL="0">
              <a:buNone/>
            </a:pPr>
            <a:r>
              <a:rPr lang="en-US" sz="1200" dirty="0">
                <a:solidFill>
                  <a:srgbClr val="1F2120"/>
                </a:solidFill>
              </a:rPr>
              <a:t>Outlook Copilot: Draft emails, summarize threads</a:t>
            </a:r>
            <a:endParaRPr lang="en-US" sz="1200" dirty="0"/>
          </a:p>
        </p:txBody>
      </p:sp>
      <p:sp>
        <p:nvSpPr>
          <p:cNvPr id="15" name="Text 13"/>
          <p:cNvSpPr/>
          <p:nvPr/>
        </p:nvSpPr>
        <p:spPr>
          <a:xfrm>
            <a:off x="457200" y="3977640"/>
            <a:ext cx="8229600" cy="320040"/>
          </a:xfrm>
          <a:prstGeom prst="rect">
            <a:avLst/>
          </a:prstGeom>
          <a:noFill/>
          <a:ln/>
        </p:spPr>
        <p:txBody>
          <a:bodyPr wrap="square" rtlCol="0" anchor="ctr"/>
          <a:lstStyle/>
          <a:p>
            <a:pPr indent="0" marL="0">
              <a:buNone/>
            </a:pPr>
            <a:r>
              <a:rPr lang="en-US" sz="1200" b="1" dirty="0">
                <a:solidFill>
                  <a:srgbClr val="1F2120"/>
                </a:solidFill>
              </a:rPr>
              <a:t>When to Use Copilots vs. Assistants:</a:t>
            </a:r>
            <a:endParaRPr lang="en-US" sz="1200" dirty="0"/>
          </a:p>
        </p:txBody>
      </p:sp>
      <p:sp>
        <p:nvSpPr>
          <p:cNvPr id="16" name="Text 14"/>
          <p:cNvSpPr/>
          <p:nvPr/>
        </p:nvSpPr>
        <p:spPr>
          <a:xfrm>
            <a:off x="457200" y="4343400"/>
            <a:ext cx="8229600" cy="548640"/>
          </a:xfrm>
          <a:prstGeom prst="rect">
            <a:avLst/>
          </a:prstGeom>
          <a:noFill/>
          <a:ln/>
        </p:spPr>
        <p:txBody>
          <a:bodyPr wrap="square" rtlCol="0" anchor="ctr"/>
          <a:lstStyle/>
          <a:p>
            <a:pPr indent="0" marL="0">
              <a:buNone/>
            </a:pPr>
            <a:r>
              <a:rPr lang="en-US" sz="1100" i="1" dirty="0">
                <a:solidFill>
                  <a:srgbClr val="707070"/>
                </a:solidFill>
              </a:rPr>
              <a:t>Use an Assistant if you're doing one-off tasks. Use a Copilot if you're already in Excel or Word and want the AI right there without context-switching.</a:t>
            </a:r>
            <a:endParaRPr lang="en-US" sz="1100" dirty="0"/>
          </a:p>
        </p:txBody>
      </p:sp>
      <p:sp>
        <p:nvSpPr>
          <p:cNvPr id="17" name="Shape 15"/>
          <p:cNvSpPr/>
          <p:nvPr/>
        </p:nvSpPr>
        <p:spPr>
          <a:xfrm>
            <a:off x="8503920" y="4572000"/>
            <a:ext cx="182880" cy="182880"/>
          </a:xfrm>
          <a:prstGeom prst="triangle">
            <a:avLst/>
          </a:prstGeom>
          <a:solidFill>
            <a:srgbClr val="CF3338"/>
          </a:solidFill>
          <a:ln/>
        </p:spPr>
      </p:sp>
      <p:sp>
        <p:nvSpPr>
          <p:cNvPr id="18" name="Shape 16"/>
          <p:cNvSpPr/>
          <p:nvPr/>
        </p:nvSpPr>
        <p:spPr>
          <a:xfrm>
            <a:off x="8668512" y="4736592"/>
            <a:ext cx="182880" cy="182880"/>
          </a:xfrm>
          <a:prstGeom prst="triangle">
            <a:avLst/>
          </a:prstGeom>
          <a:solidFill>
            <a:srgbClr val="CF3338"/>
          </a:solidFill>
          <a:ln/>
        </p:spPr>
      </p:sp>
      <p:sp>
        <p:nvSpPr>
          <p:cNvPr id="19" name="Shape 17"/>
          <p:cNvSpPr/>
          <p:nvPr/>
        </p:nvSpPr>
        <p:spPr>
          <a:xfrm>
            <a:off x="8833104" y="4901184"/>
            <a:ext cx="182880" cy="182880"/>
          </a:xfrm>
          <a:prstGeom prst="triangle">
            <a:avLst/>
          </a:prstGeom>
          <a:solidFill>
            <a:srgbClr val="CF3338"/>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Connecting SAFE + IA-AI</a:t>
            </a:r>
            <a:endParaRPr lang="en-US" sz="2800" dirty="0"/>
          </a:p>
        </p:txBody>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400" b="1" dirty="0">
                <a:solidFill>
                  <a:srgbClr val="CF3338"/>
                </a:solidFill>
                <a:latin typeface="Arial Black" pitchFamily="34" charset="0"/>
                <a:ea typeface="Arial Black" pitchFamily="34" charset="-122"/>
                <a:cs typeface="Arial Black" pitchFamily="34" charset="-120"/>
              </a:rPr>
              <a:t>The workflow:</a:t>
            </a:r>
            <a:endParaRPr lang="en-US" sz="1400" dirty="0"/>
          </a:p>
        </p:txBody>
      </p:sp>
      <p:sp>
        <p:nvSpPr>
          <p:cNvPr id="5" name="Shape 3"/>
          <p:cNvSpPr/>
          <p:nvPr/>
        </p:nvSpPr>
        <p:spPr>
          <a:xfrm>
            <a:off x="457200" y="1463040"/>
            <a:ext cx="228600" cy="228600"/>
          </a:xfrm>
          <a:prstGeom prst="ellipse">
            <a:avLst/>
          </a:prstGeom>
          <a:solidFill>
            <a:srgbClr val="CF3338"/>
          </a:solidFill>
          <a:ln/>
        </p:spPr>
      </p:sp>
      <p:sp>
        <p:nvSpPr>
          <p:cNvPr id="6" name="Text 4"/>
          <p:cNvSpPr/>
          <p:nvPr/>
        </p:nvSpPr>
        <p:spPr>
          <a:xfrm>
            <a:off x="457200" y="1463040"/>
            <a:ext cx="228600" cy="22860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914400" y="1417320"/>
            <a:ext cx="7772400" cy="365760"/>
          </a:xfrm>
          <a:prstGeom prst="rect">
            <a:avLst/>
          </a:prstGeom>
          <a:noFill/>
          <a:ln/>
        </p:spPr>
        <p:txBody>
          <a:bodyPr wrap="square" rtlCol="0" anchor="ctr"/>
          <a:lstStyle/>
          <a:p>
            <a:pPr indent="0" marL="0">
              <a:buNone/>
            </a:pPr>
            <a:r>
              <a:rPr lang="en-US" sz="1100" dirty="0">
                <a:solidFill>
                  <a:srgbClr val="1F2120"/>
                </a:solidFill>
              </a:rPr>
              <a:t>Score your task with SAFE → Is this task a good fit for AI at all?</a:t>
            </a:r>
            <a:endParaRPr lang="en-US" sz="1100" dirty="0"/>
          </a:p>
        </p:txBody>
      </p:sp>
      <p:sp>
        <p:nvSpPr>
          <p:cNvPr id="8" name="Shape 6"/>
          <p:cNvSpPr/>
          <p:nvPr/>
        </p:nvSpPr>
        <p:spPr>
          <a:xfrm>
            <a:off x="457200" y="1965960"/>
            <a:ext cx="228600" cy="228600"/>
          </a:xfrm>
          <a:prstGeom prst="ellipse">
            <a:avLst/>
          </a:prstGeom>
          <a:solidFill>
            <a:srgbClr val="CF3338"/>
          </a:solidFill>
          <a:ln/>
        </p:spPr>
      </p:sp>
      <p:sp>
        <p:nvSpPr>
          <p:cNvPr id="9" name="Text 7"/>
          <p:cNvSpPr/>
          <p:nvPr/>
        </p:nvSpPr>
        <p:spPr>
          <a:xfrm>
            <a:off x="457200" y="1965960"/>
            <a:ext cx="228600" cy="22860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914400" y="1920240"/>
            <a:ext cx="7772400" cy="365760"/>
          </a:xfrm>
          <a:prstGeom prst="rect">
            <a:avLst/>
          </a:prstGeom>
          <a:noFill/>
          <a:ln/>
        </p:spPr>
        <p:txBody>
          <a:bodyPr wrap="square" rtlCol="0" anchor="ctr"/>
          <a:lstStyle/>
          <a:p>
            <a:pPr indent="0" marL="0">
              <a:buNone/>
            </a:pPr>
            <a:r>
              <a:rPr lang="en-US" sz="1100" dirty="0">
                <a:solidFill>
                  <a:srgbClr val="1F2120"/>
                </a:solidFill>
              </a:rPr>
              <a:t>Place it on the Stability × Ambiguity 2×2 → Should AI automate or assist?</a:t>
            </a:r>
            <a:endParaRPr lang="en-US" sz="1100" dirty="0"/>
          </a:p>
        </p:txBody>
      </p:sp>
      <p:sp>
        <p:nvSpPr>
          <p:cNvPr id="11" name="Shape 9"/>
          <p:cNvSpPr/>
          <p:nvPr/>
        </p:nvSpPr>
        <p:spPr>
          <a:xfrm>
            <a:off x="457200" y="2468880"/>
            <a:ext cx="228600" cy="228600"/>
          </a:xfrm>
          <a:prstGeom prst="ellipse">
            <a:avLst/>
          </a:prstGeom>
          <a:solidFill>
            <a:srgbClr val="CF3338"/>
          </a:solidFill>
          <a:ln/>
        </p:spPr>
      </p:sp>
      <p:sp>
        <p:nvSpPr>
          <p:cNvPr id="12" name="Text 10"/>
          <p:cNvSpPr/>
          <p:nvPr/>
        </p:nvSpPr>
        <p:spPr>
          <a:xfrm>
            <a:off x="457200" y="2468880"/>
            <a:ext cx="228600" cy="22860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914400" y="2423160"/>
            <a:ext cx="7772400" cy="365760"/>
          </a:xfrm>
          <a:prstGeom prst="rect">
            <a:avLst/>
          </a:prstGeom>
          <a:noFill/>
          <a:ln/>
        </p:spPr>
        <p:txBody>
          <a:bodyPr wrap="square" rtlCol="0" anchor="ctr"/>
          <a:lstStyle/>
          <a:p>
            <a:pPr indent="0" marL="0">
              <a:buNone/>
            </a:pPr>
            <a:r>
              <a:rPr lang="en-US" sz="1100" dirty="0">
                <a:solidFill>
                  <a:srgbClr val="1F2120"/>
                </a:solidFill>
              </a:rPr>
              <a:t>Consult Exposure &amp; Frequency → Any hard vetoes? Where's the ROI?</a:t>
            </a:r>
            <a:endParaRPr lang="en-US" sz="1100" dirty="0"/>
          </a:p>
        </p:txBody>
      </p:sp>
      <p:sp>
        <p:nvSpPr>
          <p:cNvPr id="14" name="Shape 12"/>
          <p:cNvSpPr/>
          <p:nvPr/>
        </p:nvSpPr>
        <p:spPr>
          <a:xfrm>
            <a:off x="457200" y="2971800"/>
            <a:ext cx="228600" cy="228600"/>
          </a:xfrm>
          <a:prstGeom prst="ellipse">
            <a:avLst/>
          </a:prstGeom>
          <a:solidFill>
            <a:srgbClr val="CF3338"/>
          </a:solidFill>
          <a:ln/>
        </p:spPr>
      </p:sp>
      <p:sp>
        <p:nvSpPr>
          <p:cNvPr id="15" name="Text 13"/>
          <p:cNvSpPr/>
          <p:nvPr/>
        </p:nvSpPr>
        <p:spPr>
          <a:xfrm>
            <a:off x="457200" y="2971800"/>
            <a:ext cx="228600" cy="22860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914400" y="2926080"/>
            <a:ext cx="7772400" cy="365760"/>
          </a:xfrm>
          <a:prstGeom prst="rect">
            <a:avLst/>
          </a:prstGeom>
          <a:noFill/>
          <a:ln/>
        </p:spPr>
        <p:txBody>
          <a:bodyPr wrap="square" rtlCol="0" anchor="ctr"/>
          <a:lstStyle/>
          <a:p>
            <a:pPr indent="0" marL="0">
              <a:buNone/>
            </a:pPr>
            <a:r>
              <a:rPr lang="en-US" sz="1100" dirty="0">
                <a:solidFill>
                  <a:srgbClr val="1F2120"/>
                </a:solidFill>
              </a:rPr>
              <a:t>Choose a deployment type from IA-AI → Assistant, Copilot, Autopilot, or Agent?</a:t>
            </a:r>
            <a:endParaRPr lang="en-US" sz="1100" dirty="0"/>
          </a:p>
        </p:txBody>
      </p:sp>
      <p:sp>
        <p:nvSpPr>
          <p:cNvPr id="17" name="Shape 15"/>
          <p:cNvSpPr/>
          <p:nvPr/>
        </p:nvSpPr>
        <p:spPr>
          <a:xfrm>
            <a:off x="457200" y="3474720"/>
            <a:ext cx="228600" cy="228600"/>
          </a:xfrm>
          <a:prstGeom prst="ellipse">
            <a:avLst/>
          </a:prstGeom>
          <a:solidFill>
            <a:srgbClr val="CF3338"/>
          </a:solidFill>
          <a:ln/>
        </p:spPr>
      </p:sp>
      <p:sp>
        <p:nvSpPr>
          <p:cNvPr id="18" name="Text 16"/>
          <p:cNvSpPr/>
          <p:nvPr/>
        </p:nvSpPr>
        <p:spPr>
          <a:xfrm>
            <a:off x="457200" y="3474720"/>
            <a:ext cx="228600" cy="22860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19" name="Text 17"/>
          <p:cNvSpPr/>
          <p:nvPr/>
        </p:nvSpPr>
        <p:spPr>
          <a:xfrm>
            <a:off x="914400" y="3429000"/>
            <a:ext cx="7772400" cy="365760"/>
          </a:xfrm>
          <a:prstGeom prst="rect">
            <a:avLst/>
          </a:prstGeom>
          <a:noFill/>
          <a:ln/>
        </p:spPr>
        <p:txBody>
          <a:bodyPr wrap="square" rtlCol="0" anchor="ctr"/>
          <a:lstStyle/>
          <a:p>
            <a:pPr indent="0" marL="0">
              <a:buNone/>
            </a:pPr>
            <a:r>
              <a:rPr lang="en-US" sz="1100" dirty="0">
                <a:solidFill>
                  <a:srgbClr val="1F2120"/>
                </a:solidFill>
              </a:rPr>
              <a:t>Start small, measure, scale → Try one task. Start with what your org approves.</a:t>
            </a:r>
            <a:endParaRPr lang="en-US" sz="1100" dirty="0"/>
          </a:p>
        </p:txBody>
      </p:sp>
      <p:sp>
        <p:nvSpPr>
          <p:cNvPr id="20" name="Shape 18"/>
          <p:cNvSpPr/>
          <p:nvPr/>
        </p:nvSpPr>
        <p:spPr>
          <a:xfrm>
            <a:off x="8503920" y="4572000"/>
            <a:ext cx="182880" cy="182880"/>
          </a:xfrm>
          <a:prstGeom prst="triangle">
            <a:avLst/>
          </a:prstGeom>
          <a:solidFill>
            <a:srgbClr val="CF3338"/>
          </a:solidFill>
          <a:ln/>
        </p:spPr>
      </p:sp>
      <p:sp>
        <p:nvSpPr>
          <p:cNvPr id="21" name="Shape 19"/>
          <p:cNvSpPr/>
          <p:nvPr/>
        </p:nvSpPr>
        <p:spPr>
          <a:xfrm>
            <a:off x="8668512" y="4736592"/>
            <a:ext cx="182880" cy="182880"/>
          </a:xfrm>
          <a:prstGeom prst="triangle">
            <a:avLst/>
          </a:prstGeom>
          <a:solidFill>
            <a:srgbClr val="CF3338"/>
          </a:solidFill>
          <a:ln/>
        </p:spPr>
      </p:sp>
      <p:sp>
        <p:nvSpPr>
          <p:cNvPr id="22" name="Shape 20"/>
          <p:cNvSpPr/>
          <p:nvPr/>
        </p:nvSpPr>
        <p:spPr>
          <a:xfrm>
            <a:off x="8833104" y="4901184"/>
            <a:ext cx="182880" cy="182880"/>
          </a:xfrm>
          <a:prstGeom prst="triangle">
            <a:avLst/>
          </a:prstGeom>
          <a:solidFill>
            <a:srgbClr val="CF3338"/>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Your Turn: Map Your Workflows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Activity: Map Three Tasks (20 Minutes)</a:t>
            </a:r>
            <a:endParaRPr lang="en-US" sz="2800" dirty="0"/>
          </a:p>
        </p:txBody>
      </p:sp>
      <p:sp>
        <p:nvSpPr>
          <p:cNvPr id="4" name="Shape 2"/>
          <p:cNvSpPr/>
          <p:nvPr/>
        </p:nvSpPr>
        <p:spPr>
          <a:xfrm>
            <a:off x="457200" y="1005840"/>
            <a:ext cx="8229600" cy="777240"/>
          </a:xfrm>
          <a:prstGeom prst="rect">
            <a:avLst/>
          </a:prstGeom>
          <a:solidFill>
            <a:srgbClr val="EEECE1"/>
          </a:solidFill>
          <a:ln w="12700">
            <a:solidFill>
              <a:srgbClr val="CF3338"/>
            </a:solidFill>
            <a:prstDash val="solid"/>
          </a:ln>
        </p:spPr>
      </p:sp>
      <p:sp>
        <p:nvSpPr>
          <p:cNvPr id="5" name="Text 3"/>
          <p:cNvSpPr/>
          <p:nvPr/>
        </p:nvSpPr>
        <p:spPr>
          <a:xfrm>
            <a:off x="640080" y="1078992"/>
            <a:ext cx="786384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Step 1: Pick Three Tasks</a:t>
            </a:r>
            <a:endParaRPr lang="en-US" sz="1200" dirty="0"/>
          </a:p>
        </p:txBody>
      </p:sp>
      <p:sp>
        <p:nvSpPr>
          <p:cNvPr id="6" name="Text 4"/>
          <p:cNvSpPr/>
          <p:nvPr/>
        </p:nvSpPr>
        <p:spPr>
          <a:xfrm>
            <a:off x="640080" y="1389888"/>
            <a:ext cx="7863840" cy="320040"/>
          </a:xfrm>
          <a:prstGeom prst="rect">
            <a:avLst/>
          </a:prstGeom>
          <a:noFill/>
          <a:ln/>
        </p:spPr>
        <p:txBody>
          <a:bodyPr wrap="square" rtlCol="0" anchor="ctr"/>
          <a:lstStyle/>
          <a:p>
            <a:pPr indent="0" marL="0">
              <a:buNone/>
            </a:pPr>
            <a:r>
              <a:rPr lang="en-US" sz="1100" dirty="0">
                <a:solidFill>
                  <a:srgbClr val="1F2120"/>
                </a:solidFill>
              </a:rPr>
              <a:t>From your actual work. Don't pick dream tasks; pick what you're doing right now.</a:t>
            </a:r>
            <a:endParaRPr lang="en-US" sz="1100" dirty="0"/>
          </a:p>
        </p:txBody>
      </p:sp>
      <p:sp>
        <p:nvSpPr>
          <p:cNvPr id="7" name="Shape 5"/>
          <p:cNvSpPr/>
          <p:nvPr/>
        </p:nvSpPr>
        <p:spPr>
          <a:xfrm>
            <a:off x="457200" y="1920240"/>
            <a:ext cx="8229600" cy="777240"/>
          </a:xfrm>
          <a:prstGeom prst="rect">
            <a:avLst/>
          </a:prstGeom>
          <a:solidFill>
            <a:srgbClr val="EEECE1"/>
          </a:solidFill>
          <a:ln w="12700">
            <a:solidFill>
              <a:srgbClr val="CF3338"/>
            </a:solidFill>
            <a:prstDash val="solid"/>
          </a:ln>
        </p:spPr>
      </p:sp>
      <p:sp>
        <p:nvSpPr>
          <p:cNvPr id="8" name="Text 6"/>
          <p:cNvSpPr/>
          <p:nvPr/>
        </p:nvSpPr>
        <p:spPr>
          <a:xfrm>
            <a:off x="640080" y="1993392"/>
            <a:ext cx="786384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Step 2: Score with SAFE</a:t>
            </a:r>
            <a:endParaRPr lang="en-US" sz="1200" dirty="0"/>
          </a:p>
        </p:txBody>
      </p:sp>
      <p:sp>
        <p:nvSpPr>
          <p:cNvPr id="9" name="Text 7"/>
          <p:cNvSpPr/>
          <p:nvPr/>
        </p:nvSpPr>
        <p:spPr>
          <a:xfrm>
            <a:off x="640080" y="2304288"/>
            <a:ext cx="7863840" cy="320040"/>
          </a:xfrm>
          <a:prstGeom prst="rect">
            <a:avLst/>
          </a:prstGeom>
          <a:noFill/>
          <a:ln/>
        </p:spPr>
        <p:txBody>
          <a:bodyPr wrap="square" rtlCol="0" anchor="ctr"/>
          <a:lstStyle/>
          <a:p>
            <a:pPr indent="0" marL="0">
              <a:buNone/>
            </a:pPr>
            <a:r>
              <a:rPr lang="en-US" sz="1100" dirty="0">
                <a:solidFill>
                  <a:srgbClr val="1F2120"/>
                </a:solidFill>
              </a:rPr>
              <a:t>For each task, rate Stability, Ambiguity, Frequency, Exposure. Use your workbook.</a:t>
            </a:r>
            <a:endParaRPr lang="en-US" sz="1100" dirty="0"/>
          </a:p>
        </p:txBody>
      </p:sp>
      <p:sp>
        <p:nvSpPr>
          <p:cNvPr id="10" name="Shape 8"/>
          <p:cNvSpPr/>
          <p:nvPr/>
        </p:nvSpPr>
        <p:spPr>
          <a:xfrm>
            <a:off x="457200" y="2834640"/>
            <a:ext cx="8229600" cy="777240"/>
          </a:xfrm>
          <a:prstGeom prst="rect">
            <a:avLst/>
          </a:prstGeom>
          <a:solidFill>
            <a:srgbClr val="EEECE1"/>
          </a:solidFill>
          <a:ln w="12700">
            <a:solidFill>
              <a:srgbClr val="CF3338"/>
            </a:solidFill>
            <a:prstDash val="solid"/>
          </a:ln>
        </p:spPr>
      </p:sp>
      <p:sp>
        <p:nvSpPr>
          <p:cNvPr id="11" name="Text 9"/>
          <p:cNvSpPr/>
          <p:nvPr/>
        </p:nvSpPr>
        <p:spPr>
          <a:xfrm>
            <a:off x="640080" y="2907792"/>
            <a:ext cx="786384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Step 3: Plot on 2×2</a:t>
            </a:r>
            <a:endParaRPr lang="en-US" sz="1200" dirty="0"/>
          </a:p>
        </p:txBody>
      </p:sp>
      <p:sp>
        <p:nvSpPr>
          <p:cNvPr id="12" name="Text 10"/>
          <p:cNvSpPr/>
          <p:nvPr/>
        </p:nvSpPr>
        <p:spPr>
          <a:xfrm>
            <a:off x="640080" y="3218688"/>
            <a:ext cx="7863840" cy="320040"/>
          </a:xfrm>
          <a:prstGeom prst="rect">
            <a:avLst/>
          </a:prstGeom>
          <a:noFill/>
          <a:ln/>
        </p:spPr>
        <p:txBody>
          <a:bodyPr wrap="square" rtlCol="0" anchor="ctr"/>
          <a:lstStyle/>
          <a:p>
            <a:pPr indent="0" marL="0">
              <a:buNone/>
            </a:pPr>
            <a:r>
              <a:rPr lang="en-US" sz="1100" dirty="0">
                <a:solidFill>
                  <a:srgbClr val="1F2120"/>
                </a:solidFill>
              </a:rPr>
              <a:t>Where does each task land on the Stability × Ambiguity matrix?</a:t>
            </a:r>
            <a:endParaRPr lang="en-US" sz="1100" dirty="0"/>
          </a:p>
        </p:txBody>
      </p:sp>
      <p:sp>
        <p:nvSpPr>
          <p:cNvPr id="13" name="Shape 11"/>
          <p:cNvSpPr/>
          <p:nvPr/>
        </p:nvSpPr>
        <p:spPr>
          <a:xfrm>
            <a:off x="457200" y="3749040"/>
            <a:ext cx="8229600" cy="777240"/>
          </a:xfrm>
          <a:prstGeom prst="rect">
            <a:avLst/>
          </a:prstGeom>
          <a:solidFill>
            <a:srgbClr val="EEECE1"/>
          </a:solidFill>
          <a:ln w="12700">
            <a:solidFill>
              <a:srgbClr val="CF3338"/>
            </a:solidFill>
            <a:prstDash val="solid"/>
          </a:ln>
        </p:spPr>
      </p:sp>
      <p:sp>
        <p:nvSpPr>
          <p:cNvPr id="14" name="Text 12"/>
          <p:cNvSpPr/>
          <p:nvPr/>
        </p:nvSpPr>
        <p:spPr>
          <a:xfrm>
            <a:off x="640080" y="3822192"/>
            <a:ext cx="786384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Step 4: Choose Deployment Type</a:t>
            </a:r>
            <a:endParaRPr lang="en-US" sz="1200" dirty="0"/>
          </a:p>
        </p:txBody>
      </p:sp>
      <p:sp>
        <p:nvSpPr>
          <p:cNvPr id="15" name="Text 13"/>
          <p:cNvSpPr/>
          <p:nvPr/>
        </p:nvSpPr>
        <p:spPr>
          <a:xfrm>
            <a:off x="640080" y="4133088"/>
            <a:ext cx="7863840" cy="320040"/>
          </a:xfrm>
          <a:prstGeom prst="rect">
            <a:avLst/>
          </a:prstGeom>
          <a:noFill/>
          <a:ln/>
        </p:spPr>
        <p:txBody>
          <a:bodyPr wrap="square" rtlCol="0" anchor="ctr"/>
          <a:lstStyle/>
          <a:p>
            <a:pPr indent="0" marL="0">
              <a:buNone/>
            </a:pPr>
            <a:r>
              <a:rPr lang="en-US" sz="1100" dirty="0">
                <a:solidFill>
                  <a:srgbClr val="1F2120"/>
                </a:solidFill>
              </a:rPr>
              <a:t>For the tasks that are AI-ready, which tool would you use? Assistant, Copilot, Autopilot?</a:t>
            </a:r>
            <a:endParaRPr lang="en-US" sz="1100" dirty="0"/>
          </a:p>
        </p:txBody>
      </p:sp>
      <p:sp>
        <p:nvSpPr>
          <p:cNvPr id="16" name="Shape 14"/>
          <p:cNvSpPr/>
          <p:nvPr/>
        </p:nvSpPr>
        <p:spPr>
          <a:xfrm>
            <a:off x="457200" y="4389120"/>
            <a:ext cx="8229600" cy="594360"/>
          </a:xfrm>
          <a:prstGeom prst="rect">
            <a:avLst/>
          </a:prstGeom>
          <a:solidFill>
            <a:srgbClr val="CF3338"/>
          </a:solidFill>
          <a:ln/>
        </p:spPr>
      </p:sp>
      <p:sp>
        <p:nvSpPr>
          <p:cNvPr id="17" name="Text 15"/>
          <p:cNvSpPr/>
          <p:nvPr/>
        </p:nvSpPr>
        <p:spPr>
          <a:xfrm>
            <a:off x="640080" y="4462272"/>
            <a:ext cx="7863840" cy="457200"/>
          </a:xfrm>
          <a:prstGeom prst="rect">
            <a:avLst/>
          </a:prstGeom>
          <a:noFill/>
          <a:ln/>
        </p:spPr>
        <p:txBody>
          <a:bodyPr wrap="square" rtlCol="0" anchor="ctr"/>
          <a:lstStyle/>
          <a:p>
            <a:pPr algn="ctr" indent="0" marL="0">
              <a:buNone/>
            </a:pPr>
            <a:r>
              <a:rPr lang="en-US" sz="1400" b="1" dirty="0">
                <a:solidFill>
                  <a:srgbClr val="FFFFFF"/>
                </a:solidFill>
              </a:rPr>
              <a:t>Go! I'll be circulating. Raise your hand if you get stuck.</a:t>
            </a:r>
            <a:endParaRPr lang="en-US" sz="1400" dirty="0"/>
          </a:p>
        </p:txBody>
      </p:sp>
      <p:sp>
        <p:nvSpPr>
          <p:cNvPr id="18" name="Shape 16"/>
          <p:cNvSpPr/>
          <p:nvPr/>
        </p:nvSpPr>
        <p:spPr>
          <a:xfrm>
            <a:off x="8503920" y="4572000"/>
            <a:ext cx="182880" cy="182880"/>
          </a:xfrm>
          <a:prstGeom prst="triangle">
            <a:avLst/>
          </a:prstGeom>
          <a:solidFill>
            <a:srgbClr val="CF3338"/>
          </a:solidFill>
          <a:ln/>
        </p:spPr>
      </p:sp>
      <p:sp>
        <p:nvSpPr>
          <p:cNvPr id="19" name="Shape 17"/>
          <p:cNvSpPr/>
          <p:nvPr/>
        </p:nvSpPr>
        <p:spPr>
          <a:xfrm>
            <a:off x="8668512" y="4736592"/>
            <a:ext cx="182880" cy="182880"/>
          </a:xfrm>
          <a:prstGeom prst="triangle">
            <a:avLst/>
          </a:prstGeom>
          <a:solidFill>
            <a:srgbClr val="CF3338"/>
          </a:solidFill>
          <a:ln/>
        </p:spPr>
      </p:sp>
      <p:sp>
        <p:nvSpPr>
          <p:cNvPr id="20" name="Shape 18"/>
          <p:cNvSpPr/>
          <p:nvPr/>
        </p:nvSpPr>
        <p:spPr>
          <a:xfrm>
            <a:off x="8833104" y="4901184"/>
            <a:ext cx="182880" cy="182880"/>
          </a:xfrm>
          <a:prstGeom prst="triangle">
            <a:avLst/>
          </a:prstGeom>
          <a:solidFill>
            <a:srgbClr val="CF3338"/>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Working Time — I'm Here to Help</a:t>
            </a:r>
            <a:endParaRPr lang="en-US" sz="2800" dirty="0"/>
          </a:p>
        </p:txBody>
      </p:sp>
      <p:sp>
        <p:nvSpPr>
          <p:cNvPr id="4" name="Text 2"/>
          <p:cNvSpPr/>
          <p:nvPr/>
        </p:nvSpPr>
        <p:spPr>
          <a:xfrm>
            <a:off x="457200" y="1005840"/>
            <a:ext cx="8229600" cy="32004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If You're Stuck, Try These:</a:t>
            </a:r>
            <a:endParaRPr lang="en-US" sz="1300" dirty="0"/>
          </a:p>
        </p:txBody>
      </p:sp>
      <p:sp>
        <p:nvSpPr>
          <p:cNvPr id="5" name="Text 3"/>
          <p:cNvSpPr/>
          <p:nvPr/>
        </p:nvSpPr>
        <p:spPr>
          <a:xfrm>
            <a:off x="640080" y="1417320"/>
            <a:ext cx="7863840" cy="594360"/>
          </a:xfrm>
          <a:prstGeom prst="rect">
            <a:avLst/>
          </a:prstGeom>
          <a:noFill/>
          <a:ln/>
        </p:spPr>
        <p:txBody>
          <a:bodyPr wrap="square" rtlCol="0" anchor="ctr"/>
          <a:lstStyle/>
          <a:p>
            <a:pPr indent="0" marL="0">
              <a:buNone/>
            </a:pPr>
            <a:r>
              <a:rPr lang="en-US" sz="1000" dirty="0">
                <a:solidFill>
                  <a:srgbClr val="1F2120"/>
                </a:solidFill>
              </a:rPr>
              <a:t>"I'm not sure if this is high or low ambiguity." → Ask yourself: Does this task need human judgment, or is there one right answer?</a:t>
            </a:r>
            <a:endParaRPr lang="en-US" sz="1000" dirty="0"/>
          </a:p>
        </p:txBody>
      </p:sp>
      <p:sp>
        <p:nvSpPr>
          <p:cNvPr id="6" name="Text 4"/>
          <p:cNvSpPr/>
          <p:nvPr/>
        </p:nvSpPr>
        <p:spPr>
          <a:xfrm>
            <a:off x="640080" y="2103120"/>
            <a:ext cx="7863840" cy="594360"/>
          </a:xfrm>
          <a:prstGeom prst="rect">
            <a:avLst/>
          </a:prstGeom>
          <a:noFill/>
          <a:ln/>
        </p:spPr>
        <p:txBody>
          <a:bodyPr wrap="square" rtlCol="0" anchor="ctr"/>
          <a:lstStyle/>
          <a:p>
            <a:pPr indent="0" marL="0">
              <a:buNone/>
            </a:pPr>
            <a:r>
              <a:rPr lang="en-US" sz="1000" dirty="0">
                <a:solidFill>
                  <a:srgbClr val="1F2120"/>
                </a:solidFill>
              </a:rPr>
              <a:t>"My task scores high on everything." → That might mean it's not AI-ready. That's okay. Not every task is. What's the biggest problem with doing it manually?</a:t>
            </a:r>
            <a:endParaRPr lang="en-US" sz="1000" dirty="0"/>
          </a:p>
        </p:txBody>
      </p:sp>
      <p:sp>
        <p:nvSpPr>
          <p:cNvPr id="7" name="Text 5"/>
          <p:cNvSpPr/>
          <p:nvPr/>
        </p:nvSpPr>
        <p:spPr>
          <a:xfrm>
            <a:off x="640080" y="2788920"/>
            <a:ext cx="7863840" cy="594360"/>
          </a:xfrm>
          <a:prstGeom prst="rect">
            <a:avLst/>
          </a:prstGeom>
          <a:noFill/>
          <a:ln/>
        </p:spPr>
        <p:txBody>
          <a:bodyPr wrap="square" rtlCol="0" anchor="ctr"/>
          <a:lstStyle/>
          <a:p>
            <a:pPr indent="0" marL="0">
              <a:buNone/>
            </a:pPr>
            <a:r>
              <a:rPr lang="en-US" sz="1000" dirty="0">
                <a:solidFill>
                  <a:srgbClr val="1F2120"/>
                </a:solidFill>
              </a:rPr>
              <a:t>"I don't know which tool to pick." → Start with whatever AI tool your organization has approved. If unsure, ask your IT team.</a:t>
            </a:r>
            <a:endParaRPr lang="en-US" sz="1000" dirty="0"/>
          </a:p>
        </p:txBody>
      </p:sp>
      <p:sp>
        <p:nvSpPr>
          <p:cNvPr id="8" name="Text 6"/>
          <p:cNvSpPr/>
          <p:nvPr/>
        </p:nvSpPr>
        <p:spPr>
          <a:xfrm>
            <a:off x="640080" y="3474720"/>
            <a:ext cx="7863840" cy="594360"/>
          </a:xfrm>
          <a:prstGeom prst="rect">
            <a:avLst/>
          </a:prstGeom>
          <a:noFill/>
          <a:ln/>
        </p:spPr>
        <p:txBody>
          <a:bodyPr wrap="square" rtlCol="0" anchor="ctr"/>
          <a:lstStyle/>
          <a:p>
            <a:pPr indent="0" marL="0">
              <a:buNone/>
            </a:pPr>
            <a:r>
              <a:rPr lang="en-US" sz="1000" dirty="0">
                <a:solidFill>
                  <a:srgbClr val="1F2120"/>
                </a:solidFill>
              </a:rPr>
              <a:t>"This task doesn't fit the matrix perfectly." → Most don't. Tasks are messy. Pick the quadrant it's closest to and move forward.</a:t>
            </a:r>
            <a:endParaRPr lang="en-US" sz="1000" dirty="0"/>
          </a:p>
        </p:txBody>
      </p:sp>
      <p:sp>
        <p:nvSpPr>
          <p:cNvPr id="9" name="Shape 7"/>
          <p:cNvSpPr/>
          <p:nvPr/>
        </p:nvSpPr>
        <p:spPr>
          <a:xfrm>
            <a:off x="8503920" y="4572000"/>
            <a:ext cx="182880" cy="182880"/>
          </a:xfrm>
          <a:prstGeom prst="triangle">
            <a:avLst/>
          </a:prstGeom>
          <a:solidFill>
            <a:srgbClr val="CF3338"/>
          </a:solidFill>
          <a:ln/>
        </p:spPr>
      </p:sp>
      <p:sp>
        <p:nvSpPr>
          <p:cNvPr id="10" name="Shape 8"/>
          <p:cNvSpPr/>
          <p:nvPr/>
        </p:nvSpPr>
        <p:spPr>
          <a:xfrm>
            <a:off x="8668512" y="4736592"/>
            <a:ext cx="182880" cy="182880"/>
          </a:xfrm>
          <a:prstGeom prst="triangle">
            <a:avLst/>
          </a:prstGeom>
          <a:solidFill>
            <a:srgbClr val="CF3338"/>
          </a:solidFill>
          <a:ln/>
        </p:spPr>
      </p:sp>
      <p:sp>
        <p:nvSpPr>
          <p:cNvPr id="11" name="Shape 9"/>
          <p:cNvSpPr/>
          <p:nvPr/>
        </p:nvSpPr>
        <p:spPr>
          <a:xfrm>
            <a:off x="8833104" y="4901184"/>
            <a:ext cx="182880" cy="182880"/>
          </a:xfrm>
          <a:prstGeom prst="triangle">
            <a:avLst/>
          </a:prstGeom>
          <a:solidFill>
            <a:srgbClr val="CF3338"/>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Don't Have a Work Example?</a:t>
            </a:r>
            <a:endParaRPr lang="en-US" sz="2800" dirty="0"/>
          </a:p>
        </p:txBody>
      </p:sp>
      <p:sp>
        <p:nvSpPr>
          <p:cNvPr id="4" name="Text 2"/>
          <p:cNvSpPr/>
          <p:nvPr/>
        </p:nvSpPr>
        <p:spPr>
          <a:xfrm>
            <a:off x="457200" y="960120"/>
            <a:ext cx="8229600" cy="274320"/>
          </a:xfrm>
          <a:prstGeom prst="rect">
            <a:avLst/>
          </a:prstGeom>
          <a:noFill/>
          <a:ln/>
        </p:spPr>
        <p:txBody>
          <a:bodyPr wrap="square" rtlCol="0" anchor="ctr"/>
          <a:lstStyle/>
          <a:p>
            <a:pPr indent="0" marL="0">
              <a:buNone/>
            </a:pPr>
            <a:r>
              <a:rPr lang="en-US" sz="1200" dirty="0">
                <a:solidFill>
                  <a:srgbClr val="1F2120"/>
                </a:solidFill>
              </a:rPr>
              <a:t>No problem. Try one of these instead:</a:t>
            </a:r>
            <a:endParaRPr lang="en-US" sz="1200" dirty="0"/>
          </a:p>
        </p:txBody>
      </p:sp>
      <p:sp>
        <p:nvSpPr>
          <p:cNvPr id="5" name="Shape 3"/>
          <p:cNvSpPr/>
          <p:nvPr/>
        </p:nvSpPr>
        <p:spPr>
          <a:xfrm>
            <a:off x="640080" y="1444752"/>
            <a:ext cx="91440" cy="91440"/>
          </a:xfrm>
          <a:prstGeom prst="ellipse">
            <a:avLst/>
          </a:prstGeom>
          <a:solidFill>
            <a:srgbClr val="CF3338"/>
          </a:solidFill>
          <a:ln/>
        </p:spPr>
      </p:sp>
      <p:sp>
        <p:nvSpPr>
          <p:cNvPr id="6" name="Text 4"/>
          <p:cNvSpPr/>
          <p:nvPr/>
        </p:nvSpPr>
        <p:spPr>
          <a:xfrm>
            <a:off x="1005840" y="1371600"/>
            <a:ext cx="7680960" cy="320040"/>
          </a:xfrm>
          <a:prstGeom prst="rect">
            <a:avLst/>
          </a:prstGeom>
          <a:noFill/>
          <a:ln/>
        </p:spPr>
        <p:txBody>
          <a:bodyPr wrap="square" rtlCol="0" anchor="ctr"/>
          <a:lstStyle/>
          <a:p>
            <a:pPr indent="0" marL="0">
              <a:buNone/>
            </a:pPr>
            <a:r>
              <a:rPr lang="en-US" sz="1100" dirty="0">
                <a:solidFill>
                  <a:srgbClr val="1F2120"/>
                </a:solidFill>
              </a:rPr>
              <a:t>Use a personal workflow: planning a trip, organizing finances, job searching</a:t>
            </a:r>
            <a:endParaRPr lang="en-US" sz="1100" dirty="0"/>
          </a:p>
        </p:txBody>
      </p:sp>
      <p:sp>
        <p:nvSpPr>
          <p:cNvPr id="7" name="Shape 5"/>
          <p:cNvSpPr/>
          <p:nvPr/>
        </p:nvSpPr>
        <p:spPr>
          <a:xfrm>
            <a:off x="640080" y="1856232"/>
            <a:ext cx="91440" cy="91440"/>
          </a:xfrm>
          <a:prstGeom prst="ellipse">
            <a:avLst/>
          </a:prstGeom>
          <a:solidFill>
            <a:srgbClr val="CF3338"/>
          </a:solidFill>
          <a:ln/>
        </p:spPr>
      </p:sp>
      <p:sp>
        <p:nvSpPr>
          <p:cNvPr id="8" name="Text 6"/>
          <p:cNvSpPr/>
          <p:nvPr/>
        </p:nvSpPr>
        <p:spPr>
          <a:xfrm>
            <a:off x="1005840" y="1783080"/>
            <a:ext cx="7680960" cy="320040"/>
          </a:xfrm>
          <a:prstGeom prst="rect">
            <a:avLst/>
          </a:prstGeom>
          <a:noFill/>
          <a:ln/>
        </p:spPr>
        <p:txBody>
          <a:bodyPr wrap="square" rtlCol="0" anchor="ctr"/>
          <a:lstStyle/>
          <a:p>
            <a:pPr indent="0" marL="0">
              <a:buNone/>
            </a:pPr>
            <a:r>
              <a:rPr lang="en-US" sz="1100" dirty="0">
                <a:solidFill>
                  <a:srgbClr val="1F2120"/>
                </a:solidFill>
              </a:rPr>
              <a:t>Try a sample scenario: Monthly budget report for a 50-person marketing team</a:t>
            </a:r>
            <a:endParaRPr lang="en-US" sz="1100" dirty="0"/>
          </a:p>
        </p:txBody>
      </p:sp>
      <p:sp>
        <p:nvSpPr>
          <p:cNvPr id="9" name="Shape 7"/>
          <p:cNvSpPr/>
          <p:nvPr/>
        </p:nvSpPr>
        <p:spPr>
          <a:xfrm>
            <a:off x="640080" y="2267712"/>
            <a:ext cx="91440" cy="91440"/>
          </a:xfrm>
          <a:prstGeom prst="ellipse">
            <a:avLst/>
          </a:prstGeom>
          <a:solidFill>
            <a:srgbClr val="CF3338"/>
          </a:solidFill>
          <a:ln/>
        </p:spPr>
      </p:sp>
      <p:sp>
        <p:nvSpPr>
          <p:cNvPr id="10" name="Text 8"/>
          <p:cNvSpPr/>
          <p:nvPr/>
        </p:nvSpPr>
        <p:spPr>
          <a:xfrm>
            <a:off x="1005840" y="2194560"/>
            <a:ext cx="7680960" cy="320040"/>
          </a:xfrm>
          <a:prstGeom prst="rect">
            <a:avLst/>
          </a:prstGeom>
          <a:noFill/>
          <a:ln/>
        </p:spPr>
        <p:txBody>
          <a:bodyPr wrap="square" rtlCol="0" anchor="ctr"/>
          <a:lstStyle/>
          <a:p>
            <a:pPr indent="0" marL="0">
              <a:buNone/>
            </a:pPr>
            <a:r>
              <a:rPr lang="en-US" sz="1100" dirty="0">
                <a:solidFill>
                  <a:srgbClr val="1F2120"/>
                </a:solidFill>
              </a:rPr>
              <a:t>Try a sample scenario: Weekly client status emails across 12 accounts</a:t>
            </a:r>
            <a:endParaRPr lang="en-US" sz="1100" dirty="0"/>
          </a:p>
        </p:txBody>
      </p:sp>
      <p:sp>
        <p:nvSpPr>
          <p:cNvPr id="11" name="Shape 9"/>
          <p:cNvSpPr/>
          <p:nvPr/>
        </p:nvSpPr>
        <p:spPr>
          <a:xfrm>
            <a:off x="640080" y="2679192"/>
            <a:ext cx="91440" cy="91440"/>
          </a:xfrm>
          <a:prstGeom prst="ellipse">
            <a:avLst/>
          </a:prstGeom>
          <a:solidFill>
            <a:srgbClr val="CF3338"/>
          </a:solidFill>
          <a:ln/>
        </p:spPr>
      </p:sp>
      <p:sp>
        <p:nvSpPr>
          <p:cNvPr id="12" name="Text 10"/>
          <p:cNvSpPr/>
          <p:nvPr/>
        </p:nvSpPr>
        <p:spPr>
          <a:xfrm>
            <a:off x="1005840" y="2606040"/>
            <a:ext cx="7680960" cy="320040"/>
          </a:xfrm>
          <a:prstGeom prst="rect">
            <a:avLst/>
          </a:prstGeom>
          <a:noFill/>
          <a:ln/>
        </p:spPr>
        <p:txBody>
          <a:bodyPr wrap="square" rtlCol="0" anchor="ctr"/>
          <a:lstStyle/>
          <a:p>
            <a:pPr indent="0" marL="0">
              <a:buNone/>
            </a:pPr>
            <a:r>
              <a:rPr lang="en-US" sz="1100" dirty="0">
                <a:solidFill>
                  <a:srgbClr val="1F2120"/>
                </a:solidFill>
              </a:rPr>
              <a:t>Try a sample scenario: Quarterly compliance documentation review</a:t>
            </a:r>
            <a:endParaRPr lang="en-US" sz="1100" dirty="0"/>
          </a:p>
        </p:txBody>
      </p:sp>
      <p:sp>
        <p:nvSpPr>
          <p:cNvPr id="13" name="Shape 11"/>
          <p:cNvSpPr/>
          <p:nvPr/>
        </p:nvSpPr>
        <p:spPr>
          <a:xfrm>
            <a:off x="640080" y="3090672"/>
            <a:ext cx="91440" cy="91440"/>
          </a:xfrm>
          <a:prstGeom prst="ellipse">
            <a:avLst/>
          </a:prstGeom>
          <a:solidFill>
            <a:srgbClr val="CF3338"/>
          </a:solidFill>
          <a:ln/>
        </p:spPr>
      </p:sp>
      <p:sp>
        <p:nvSpPr>
          <p:cNvPr id="14" name="Text 12"/>
          <p:cNvSpPr/>
          <p:nvPr/>
        </p:nvSpPr>
        <p:spPr>
          <a:xfrm>
            <a:off x="1005840" y="3017520"/>
            <a:ext cx="7680960" cy="320040"/>
          </a:xfrm>
          <a:prstGeom prst="rect">
            <a:avLst/>
          </a:prstGeom>
          <a:noFill/>
          <a:ln/>
        </p:spPr>
        <p:txBody>
          <a:bodyPr wrap="square" rtlCol="0" anchor="ctr"/>
          <a:lstStyle/>
          <a:p>
            <a:pPr indent="0" marL="0">
              <a:buNone/>
            </a:pPr>
            <a:r>
              <a:rPr lang="en-US" sz="1100" dirty="0">
                <a:solidFill>
                  <a:srgbClr val="1F2120"/>
                </a:solidFill>
              </a:rPr>
              <a:t>Pair with someone who has a work example and observe their process</a:t>
            </a:r>
            <a:endParaRPr lang="en-US" sz="1100" dirty="0"/>
          </a:p>
        </p:txBody>
      </p:sp>
      <p:sp>
        <p:nvSpPr>
          <p:cNvPr id="15" name="Text 13"/>
          <p:cNvSpPr/>
          <p:nvPr/>
        </p:nvSpPr>
        <p:spPr>
          <a:xfrm>
            <a:off x="457200" y="4480560"/>
            <a:ext cx="8229600" cy="457200"/>
          </a:xfrm>
          <a:prstGeom prst="rect">
            <a:avLst/>
          </a:prstGeom>
          <a:noFill/>
          <a:ln/>
        </p:spPr>
        <p:txBody>
          <a:bodyPr wrap="square" rtlCol="0" anchor="ctr"/>
          <a:lstStyle/>
          <a:p>
            <a:pPr algn="ctr" indent="0" marL="0">
              <a:buNone/>
            </a:pPr>
            <a:r>
              <a:rPr lang="en-US" sz="1000" i="1" dirty="0">
                <a:solidFill>
                  <a:srgbClr val="707070"/>
                </a:solidFill>
              </a:rPr>
              <a:t>The frameworks work the same way regardless of the example — pick what's comfortable for you.</a:t>
            </a:r>
            <a:endParaRPr lang="en-US" sz="1000" dirty="0"/>
          </a:p>
        </p:txBody>
      </p:sp>
      <p:sp>
        <p:nvSpPr>
          <p:cNvPr id="16" name="Shape 14"/>
          <p:cNvSpPr/>
          <p:nvPr/>
        </p:nvSpPr>
        <p:spPr>
          <a:xfrm>
            <a:off x="8503920" y="4572000"/>
            <a:ext cx="182880" cy="182880"/>
          </a:xfrm>
          <a:prstGeom prst="triangle">
            <a:avLst/>
          </a:prstGeom>
          <a:solidFill>
            <a:srgbClr val="CF3338"/>
          </a:solidFill>
          <a:ln/>
        </p:spPr>
      </p:sp>
      <p:sp>
        <p:nvSpPr>
          <p:cNvPr id="17" name="Shape 15"/>
          <p:cNvSpPr/>
          <p:nvPr/>
        </p:nvSpPr>
        <p:spPr>
          <a:xfrm>
            <a:off x="8668512" y="4736592"/>
            <a:ext cx="182880" cy="182880"/>
          </a:xfrm>
          <a:prstGeom prst="triangle">
            <a:avLst/>
          </a:prstGeom>
          <a:solidFill>
            <a:srgbClr val="CF3338"/>
          </a:solidFill>
          <a:ln/>
        </p:spPr>
      </p:sp>
      <p:sp>
        <p:nvSpPr>
          <p:cNvPr id="18" name="Shape 16"/>
          <p:cNvSpPr/>
          <p:nvPr/>
        </p:nvSpPr>
        <p:spPr>
          <a:xfrm>
            <a:off x="8833104" y="4901184"/>
            <a:ext cx="182880" cy="182880"/>
          </a:xfrm>
          <a:prstGeom prst="triangle">
            <a:avLst/>
          </a:prstGeom>
          <a:solidFill>
            <a:srgbClr val="CF3338"/>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Gallery Share &amp; Debrief</a:t>
            </a:r>
            <a:endParaRPr 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Debrief: Let's Talk About It</a:t>
            </a:r>
            <a:endParaRPr lang="en-US" sz="2800" dirty="0"/>
          </a:p>
        </p:txBody>
      </p:sp>
      <p:sp>
        <p:nvSpPr>
          <p:cNvPr id="4" name="Text 2"/>
          <p:cNvSpPr/>
          <p:nvPr/>
        </p:nvSpPr>
        <p:spPr>
          <a:xfrm>
            <a:off x="457200" y="1097280"/>
            <a:ext cx="274320" cy="320040"/>
          </a:xfrm>
          <a:prstGeom prst="rect">
            <a:avLst/>
          </a:prstGeom>
          <a:noFill/>
          <a:ln/>
        </p:spPr>
        <p:txBody>
          <a:bodyPr wrap="square" rtlCol="0" anchor="ctr"/>
          <a:lstStyle/>
          <a:p>
            <a:pPr indent="0" marL="0">
              <a:buNone/>
            </a:pPr>
            <a:r>
              <a:rPr lang="en-US" sz="1200" b="1" dirty="0">
                <a:solidFill>
                  <a:srgbClr val="CF3338"/>
                </a:solidFill>
              </a:rPr>
              <a:t>1.</a:t>
            </a:r>
            <a:endParaRPr lang="en-US" sz="1200" dirty="0"/>
          </a:p>
        </p:txBody>
      </p:sp>
      <p:sp>
        <p:nvSpPr>
          <p:cNvPr id="5" name="Text 3"/>
          <p:cNvSpPr/>
          <p:nvPr/>
        </p:nvSpPr>
        <p:spPr>
          <a:xfrm>
            <a:off x="914400" y="1097280"/>
            <a:ext cx="7772400" cy="594360"/>
          </a:xfrm>
          <a:prstGeom prst="rect">
            <a:avLst/>
          </a:prstGeom>
          <a:noFill/>
          <a:ln/>
        </p:spPr>
        <p:txBody>
          <a:bodyPr wrap="square" rtlCol="0" anchor="ctr"/>
          <a:lstStyle/>
          <a:p>
            <a:pPr indent="0" marL="0">
              <a:buNone/>
            </a:pPr>
            <a:r>
              <a:rPr lang="en-US" sz="1100" dirty="0">
                <a:solidFill>
                  <a:srgbClr val="1F2120"/>
                </a:solidFill>
              </a:rPr>
              <a:t>What surprised you about where your tasks landed? Did something you thought was AI-ready turn out not to be?</a:t>
            </a:r>
            <a:endParaRPr lang="en-US" sz="1100" dirty="0"/>
          </a:p>
        </p:txBody>
      </p:sp>
      <p:sp>
        <p:nvSpPr>
          <p:cNvPr id="6" name="Text 4"/>
          <p:cNvSpPr/>
          <p:nvPr/>
        </p:nvSpPr>
        <p:spPr>
          <a:xfrm>
            <a:off x="457200" y="1828800"/>
            <a:ext cx="274320" cy="320040"/>
          </a:xfrm>
          <a:prstGeom prst="rect">
            <a:avLst/>
          </a:prstGeom>
          <a:noFill/>
          <a:ln/>
        </p:spPr>
        <p:txBody>
          <a:bodyPr wrap="square" rtlCol="0" anchor="ctr"/>
          <a:lstStyle/>
          <a:p>
            <a:pPr indent="0" marL="0">
              <a:buNone/>
            </a:pPr>
            <a:r>
              <a:rPr lang="en-US" sz="1200" b="1" dirty="0">
                <a:solidFill>
                  <a:srgbClr val="CF3338"/>
                </a:solidFill>
              </a:rPr>
              <a:t>2.</a:t>
            </a:r>
            <a:endParaRPr lang="en-US" sz="1200" dirty="0"/>
          </a:p>
        </p:txBody>
      </p:sp>
      <p:sp>
        <p:nvSpPr>
          <p:cNvPr id="7" name="Text 5"/>
          <p:cNvSpPr/>
          <p:nvPr/>
        </p:nvSpPr>
        <p:spPr>
          <a:xfrm>
            <a:off x="914400" y="1828800"/>
            <a:ext cx="7772400" cy="594360"/>
          </a:xfrm>
          <a:prstGeom prst="rect">
            <a:avLst/>
          </a:prstGeom>
          <a:noFill/>
          <a:ln/>
        </p:spPr>
        <p:txBody>
          <a:bodyPr wrap="square" rtlCol="0" anchor="ctr"/>
          <a:lstStyle/>
          <a:p>
            <a:pPr indent="0" marL="0">
              <a:buNone/>
            </a:pPr>
            <a:r>
              <a:rPr lang="en-US" sz="1100" dirty="0">
                <a:solidFill>
                  <a:srgbClr val="1F2120"/>
                </a:solidFill>
              </a:rPr>
              <a:t>Which of your three tasks landed in the AI Sweet Spot? What does that mean you could automate?</a:t>
            </a:r>
            <a:endParaRPr lang="en-US" sz="1100" dirty="0"/>
          </a:p>
        </p:txBody>
      </p:sp>
      <p:sp>
        <p:nvSpPr>
          <p:cNvPr id="8" name="Text 6"/>
          <p:cNvSpPr/>
          <p:nvPr/>
        </p:nvSpPr>
        <p:spPr>
          <a:xfrm>
            <a:off x="457200" y="2560320"/>
            <a:ext cx="274320" cy="320040"/>
          </a:xfrm>
          <a:prstGeom prst="rect">
            <a:avLst/>
          </a:prstGeom>
          <a:noFill/>
          <a:ln/>
        </p:spPr>
        <p:txBody>
          <a:bodyPr wrap="square" rtlCol="0" anchor="ctr"/>
          <a:lstStyle/>
          <a:p>
            <a:pPr indent="0" marL="0">
              <a:buNone/>
            </a:pPr>
            <a:r>
              <a:rPr lang="en-US" sz="1200" b="1" dirty="0">
                <a:solidFill>
                  <a:srgbClr val="CF3338"/>
                </a:solidFill>
              </a:rPr>
              <a:t>3.</a:t>
            </a:r>
            <a:endParaRPr lang="en-US" sz="1200" dirty="0"/>
          </a:p>
        </p:txBody>
      </p:sp>
      <p:sp>
        <p:nvSpPr>
          <p:cNvPr id="9" name="Text 7"/>
          <p:cNvSpPr/>
          <p:nvPr/>
        </p:nvSpPr>
        <p:spPr>
          <a:xfrm>
            <a:off x="914400" y="2560320"/>
            <a:ext cx="7772400" cy="594360"/>
          </a:xfrm>
          <a:prstGeom prst="rect">
            <a:avLst/>
          </a:prstGeom>
          <a:noFill/>
          <a:ln/>
        </p:spPr>
        <p:txBody>
          <a:bodyPr wrap="square" rtlCol="0" anchor="ctr"/>
          <a:lstStyle/>
          <a:p>
            <a:pPr indent="0" marL="0">
              <a:buNone/>
            </a:pPr>
            <a:r>
              <a:rPr lang="en-US" sz="1100" dirty="0">
                <a:solidFill>
                  <a:srgbClr val="1F2120"/>
                </a:solidFill>
              </a:rPr>
              <a:t>If you have a high-exposure task, what would it take to make it AI-ready? Do you need to anonymize data first?</a:t>
            </a:r>
            <a:endParaRPr lang="en-US" sz="1100" dirty="0"/>
          </a:p>
        </p:txBody>
      </p:sp>
      <p:sp>
        <p:nvSpPr>
          <p:cNvPr id="10" name="Text 8"/>
          <p:cNvSpPr/>
          <p:nvPr/>
        </p:nvSpPr>
        <p:spPr>
          <a:xfrm>
            <a:off x="457200" y="3291840"/>
            <a:ext cx="274320" cy="320040"/>
          </a:xfrm>
          <a:prstGeom prst="rect">
            <a:avLst/>
          </a:prstGeom>
          <a:noFill/>
          <a:ln/>
        </p:spPr>
        <p:txBody>
          <a:bodyPr wrap="square" rtlCol="0" anchor="ctr"/>
          <a:lstStyle/>
          <a:p>
            <a:pPr indent="0" marL="0">
              <a:buNone/>
            </a:pPr>
            <a:r>
              <a:rPr lang="en-US" sz="1200" b="1" dirty="0">
                <a:solidFill>
                  <a:srgbClr val="CF3338"/>
                </a:solidFill>
              </a:rPr>
              <a:t>4.</a:t>
            </a:r>
            <a:endParaRPr lang="en-US" sz="1200" dirty="0"/>
          </a:p>
        </p:txBody>
      </p:sp>
      <p:sp>
        <p:nvSpPr>
          <p:cNvPr id="11" name="Text 9"/>
          <p:cNvSpPr/>
          <p:nvPr/>
        </p:nvSpPr>
        <p:spPr>
          <a:xfrm>
            <a:off x="914400" y="3291840"/>
            <a:ext cx="7772400" cy="594360"/>
          </a:xfrm>
          <a:prstGeom prst="rect">
            <a:avLst/>
          </a:prstGeom>
          <a:noFill/>
          <a:ln/>
        </p:spPr>
        <p:txBody>
          <a:bodyPr wrap="square" rtlCol="0" anchor="ctr"/>
          <a:lstStyle/>
          <a:p>
            <a:pPr indent="0" marL="0">
              <a:buNone/>
            </a:pPr>
            <a:r>
              <a:rPr lang="en-US" sz="1100" dirty="0">
                <a:solidFill>
                  <a:srgbClr val="1F2120"/>
                </a:solidFill>
              </a:rPr>
              <a:t>What's one task that's clearly in the Judgment Zone? How could AI still help you with it, even if it can't automate it?</a:t>
            </a:r>
            <a:endParaRPr lang="en-US" sz="1100" dirty="0"/>
          </a:p>
        </p:txBody>
      </p:sp>
      <p:sp>
        <p:nvSpPr>
          <p:cNvPr id="12" name="Shape 10"/>
          <p:cNvSpPr/>
          <p:nvPr/>
        </p:nvSpPr>
        <p:spPr>
          <a:xfrm>
            <a:off x="8503920" y="4572000"/>
            <a:ext cx="182880" cy="182880"/>
          </a:xfrm>
          <a:prstGeom prst="triangle">
            <a:avLst/>
          </a:prstGeom>
          <a:solidFill>
            <a:srgbClr val="CF3338"/>
          </a:solidFill>
          <a:ln/>
        </p:spPr>
      </p:sp>
      <p:sp>
        <p:nvSpPr>
          <p:cNvPr id="13" name="Shape 11"/>
          <p:cNvSpPr/>
          <p:nvPr/>
        </p:nvSpPr>
        <p:spPr>
          <a:xfrm>
            <a:off x="8668512" y="4736592"/>
            <a:ext cx="182880" cy="182880"/>
          </a:xfrm>
          <a:prstGeom prst="triangle">
            <a:avLst/>
          </a:prstGeom>
          <a:solidFill>
            <a:srgbClr val="CF3338"/>
          </a:solidFill>
          <a:ln/>
        </p:spPr>
      </p:sp>
      <p:sp>
        <p:nvSpPr>
          <p:cNvPr id="14" name="Shape 12"/>
          <p:cNvSpPr/>
          <p:nvPr/>
        </p:nvSpPr>
        <p:spPr>
          <a:xfrm>
            <a:off x="8833104" y="4901184"/>
            <a:ext cx="182880" cy="182880"/>
          </a:xfrm>
          <a:prstGeom prst="triangle">
            <a:avLst/>
          </a:prstGeom>
          <a:solidFill>
            <a:srgbClr val="CF3338"/>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What's This Worth to You?</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Value Threshold Calculator</a:t>
            </a:r>
            <a:endParaRPr lang="en-US" sz="2800" dirty="0"/>
          </a:p>
        </p:txBody>
      </p:sp>
      <p:sp>
        <p:nvSpPr>
          <p:cNvPr id="4" name="Text 2"/>
          <p:cNvSpPr/>
          <p:nvPr/>
        </p:nvSpPr>
        <p:spPr>
          <a:xfrm>
            <a:off x="457200" y="960120"/>
            <a:ext cx="822960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The simple formula:</a:t>
            </a:r>
            <a:endParaRPr lang="en-US" sz="1200" dirty="0"/>
          </a:p>
        </p:txBody>
      </p:sp>
      <p:sp>
        <p:nvSpPr>
          <p:cNvPr id="5" name="Shape 3"/>
          <p:cNvSpPr/>
          <p:nvPr/>
        </p:nvSpPr>
        <p:spPr>
          <a:xfrm>
            <a:off x="1371600" y="1325880"/>
            <a:ext cx="6400800" cy="868680"/>
          </a:xfrm>
          <a:prstGeom prst="rect">
            <a:avLst/>
          </a:prstGeom>
          <a:solidFill>
            <a:srgbClr val="CF3338"/>
          </a:solidFill>
          <a:ln/>
        </p:spPr>
      </p:sp>
      <p:sp>
        <p:nvSpPr>
          <p:cNvPr id="6" name="Text 4"/>
          <p:cNvSpPr/>
          <p:nvPr/>
        </p:nvSpPr>
        <p:spPr>
          <a:xfrm>
            <a:off x="1554480" y="1463040"/>
            <a:ext cx="6035040" cy="594360"/>
          </a:xfrm>
          <a:prstGeom prst="rect">
            <a:avLst/>
          </a:prstGeom>
          <a:noFill/>
          <a:ln/>
        </p:spPr>
        <p:txBody>
          <a:bodyPr wrap="square" rtlCol="0" anchor="ctr"/>
          <a:lstStyle/>
          <a:p>
            <a:pPr algn="ctr" indent="0" marL="0">
              <a:buNone/>
            </a:pPr>
            <a:r>
              <a:rPr lang="en-US" sz="1300" b="1" dirty="0">
                <a:solidFill>
                  <a:srgbClr val="FFFFFF"/>
                </a:solidFill>
              </a:rPr>
              <a:t>(Time saved per task × Times per year) × Your hourly rate = Annual value</a:t>
            </a:r>
            <a:endParaRPr lang="en-US" sz="1300" dirty="0"/>
          </a:p>
        </p:txBody>
      </p:sp>
      <p:sp>
        <p:nvSpPr>
          <p:cNvPr id="7" name="Text 5"/>
          <p:cNvSpPr/>
          <p:nvPr/>
        </p:nvSpPr>
        <p:spPr>
          <a:xfrm>
            <a:off x="457200" y="2423160"/>
            <a:ext cx="822960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Example:</a:t>
            </a:r>
            <a:endParaRPr lang="en-US" sz="1200" dirty="0"/>
          </a:p>
        </p:txBody>
      </p:sp>
      <p:sp>
        <p:nvSpPr>
          <p:cNvPr id="8" name="Shape 6"/>
          <p:cNvSpPr/>
          <p:nvPr/>
        </p:nvSpPr>
        <p:spPr>
          <a:xfrm>
            <a:off x="640080" y="2816352"/>
            <a:ext cx="91440" cy="91440"/>
          </a:xfrm>
          <a:prstGeom prst="ellipse">
            <a:avLst/>
          </a:prstGeom>
          <a:solidFill>
            <a:srgbClr val="CF3338"/>
          </a:solidFill>
          <a:ln/>
        </p:spPr>
      </p:sp>
      <p:sp>
        <p:nvSpPr>
          <p:cNvPr id="9" name="Text 7"/>
          <p:cNvSpPr/>
          <p:nvPr/>
        </p:nvSpPr>
        <p:spPr>
          <a:xfrm>
            <a:off x="1005840" y="2743200"/>
            <a:ext cx="7680960" cy="274320"/>
          </a:xfrm>
          <a:prstGeom prst="rect">
            <a:avLst/>
          </a:prstGeom>
          <a:noFill/>
          <a:ln/>
        </p:spPr>
        <p:txBody>
          <a:bodyPr wrap="square" rtlCol="0" anchor="ctr"/>
          <a:lstStyle/>
          <a:p>
            <a:pPr indent="0" marL="0">
              <a:buNone/>
            </a:pPr>
            <a:r>
              <a:rPr lang="en-US" sz="1200" dirty="0">
                <a:solidFill>
                  <a:srgbClr val="1F2120"/>
                </a:solidFill>
              </a:rPr>
              <a:t>30 minutes saved per task × 50 times per year = 25 hours saved</a:t>
            </a:r>
            <a:endParaRPr lang="en-US" sz="1200" dirty="0"/>
          </a:p>
        </p:txBody>
      </p:sp>
      <p:sp>
        <p:nvSpPr>
          <p:cNvPr id="10" name="Shape 8"/>
          <p:cNvSpPr/>
          <p:nvPr/>
        </p:nvSpPr>
        <p:spPr>
          <a:xfrm>
            <a:off x="640080" y="3227832"/>
            <a:ext cx="91440" cy="91440"/>
          </a:xfrm>
          <a:prstGeom prst="ellipse">
            <a:avLst/>
          </a:prstGeom>
          <a:solidFill>
            <a:srgbClr val="CF3338"/>
          </a:solidFill>
          <a:ln/>
        </p:spPr>
      </p:sp>
      <p:sp>
        <p:nvSpPr>
          <p:cNvPr id="11" name="Text 9"/>
          <p:cNvSpPr/>
          <p:nvPr/>
        </p:nvSpPr>
        <p:spPr>
          <a:xfrm>
            <a:off x="1005840" y="3154680"/>
            <a:ext cx="7680960" cy="274320"/>
          </a:xfrm>
          <a:prstGeom prst="rect">
            <a:avLst/>
          </a:prstGeom>
          <a:noFill/>
          <a:ln/>
        </p:spPr>
        <p:txBody>
          <a:bodyPr wrap="square" rtlCol="0" anchor="ctr"/>
          <a:lstStyle/>
          <a:p>
            <a:pPr indent="0" marL="0">
              <a:buNone/>
            </a:pPr>
            <a:r>
              <a:rPr lang="en-US" sz="1200" dirty="0">
                <a:solidFill>
                  <a:srgbClr val="1F2120"/>
                </a:solidFill>
              </a:rPr>
              <a:t>25 hours × $75/hour = $1,875 per year saved on just ONE task</a:t>
            </a:r>
            <a:endParaRPr lang="en-US" sz="1200" dirty="0"/>
          </a:p>
        </p:txBody>
      </p:sp>
      <p:sp>
        <p:nvSpPr>
          <p:cNvPr id="12" name="Text 10"/>
          <p:cNvSpPr/>
          <p:nvPr/>
        </p:nvSpPr>
        <p:spPr>
          <a:xfrm>
            <a:off x="457200" y="3611880"/>
            <a:ext cx="8229600" cy="548640"/>
          </a:xfrm>
          <a:prstGeom prst="rect">
            <a:avLst/>
          </a:prstGeom>
          <a:noFill/>
          <a:ln/>
        </p:spPr>
        <p:txBody>
          <a:bodyPr wrap="square" rtlCol="0" anchor="ctr"/>
          <a:lstStyle/>
          <a:p>
            <a:pPr indent="0" marL="0">
              <a:buNone/>
            </a:pPr>
            <a:r>
              <a:rPr lang="en-US" sz="1100" i="1" dirty="0">
                <a:solidFill>
                  <a:srgbClr val="1F2120"/>
                </a:solidFill>
              </a:rPr>
              <a:t>That's the baseline before implementation cost. And many organizations already have AI tools available—whether through enterprise licenses or approved free tiers. Check what's available to you. The point is: even modest time savings on a frequent task add up fast.</a:t>
            </a:r>
            <a:endParaRPr lang="en-US" sz="1100" dirty="0"/>
          </a:p>
        </p:txBody>
      </p:sp>
      <p:sp>
        <p:nvSpPr>
          <p:cNvPr id="13" name="Text 11"/>
          <p:cNvSpPr/>
          <p:nvPr/>
        </p:nvSpPr>
        <p:spPr>
          <a:xfrm>
            <a:off x="457200" y="4617720"/>
            <a:ext cx="8229600" cy="320040"/>
          </a:xfrm>
          <a:prstGeom prst="rect">
            <a:avLst/>
          </a:prstGeom>
          <a:noFill/>
          <a:ln/>
        </p:spPr>
        <p:txBody>
          <a:bodyPr wrap="square" rtlCol="0" anchor="ctr"/>
          <a:lstStyle/>
          <a:p>
            <a:pPr indent="0" marL="0">
              <a:buNone/>
            </a:pPr>
            <a:r>
              <a:rPr lang="en-US" sz="900" i="1" dirty="0">
                <a:solidFill>
                  <a:srgbClr val="707070"/>
                </a:solidFill>
              </a:rPr>
              <a:t>Adapted from the value threshold concept in Tobias Zwingmann, The Profitable AI Advantage (Packt, 2025)</a:t>
            </a:r>
            <a:endParaRPr lang="en-US" sz="900" dirty="0"/>
          </a:p>
        </p:txBody>
      </p:sp>
      <p:sp>
        <p:nvSpPr>
          <p:cNvPr id="14" name="Shape 12"/>
          <p:cNvSpPr/>
          <p:nvPr/>
        </p:nvSpPr>
        <p:spPr>
          <a:xfrm>
            <a:off x="8503920" y="4572000"/>
            <a:ext cx="182880" cy="182880"/>
          </a:xfrm>
          <a:prstGeom prst="triangle">
            <a:avLst/>
          </a:prstGeom>
          <a:solidFill>
            <a:srgbClr val="CF3338"/>
          </a:solidFill>
          <a:ln/>
        </p:spPr>
      </p:sp>
      <p:sp>
        <p:nvSpPr>
          <p:cNvPr id="15" name="Shape 13"/>
          <p:cNvSpPr/>
          <p:nvPr/>
        </p:nvSpPr>
        <p:spPr>
          <a:xfrm>
            <a:off x="8668512" y="4736592"/>
            <a:ext cx="182880" cy="182880"/>
          </a:xfrm>
          <a:prstGeom prst="triangle">
            <a:avLst/>
          </a:prstGeom>
          <a:solidFill>
            <a:srgbClr val="CF3338"/>
          </a:solidFill>
          <a:ln/>
        </p:spPr>
      </p:sp>
      <p:sp>
        <p:nvSpPr>
          <p:cNvPr id="16" name="Shape 14"/>
          <p:cNvSpPr/>
          <p:nvPr/>
        </p:nvSpPr>
        <p:spPr>
          <a:xfrm>
            <a:off x="8833104" y="4901184"/>
            <a:ext cx="182880" cy="182880"/>
          </a:xfrm>
          <a:prstGeom prst="triangle">
            <a:avLst/>
          </a:prstGeom>
          <a:solidFill>
            <a:srgbClr val="CF3338"/>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Now: Calculate YOUR Number</a:t>
            </a:r>
            <a:endParaRPr lang="en-US" sz="2800" dirty="0"/>
          </a:p>
        </p:txBody>
      </p:sp>
      <p:sp>
        <p:nvSpPr>
          <p:cNvPr id="4" name="Text 2"/>
          <p:cNvSpPr/>
          <p:nvPr/>
        </p:nvSpPr>
        <p:spPr>
          <a:xfrm>
            <a:off x="457200" y="960120"/>
            <a:ext cx="8229600" cy="365760"/>
          </a:xfrm>
          <a:prstGeom prst="rect">
            <a:avLst/>
          </a:prstGeom>
          <a:noFill/>
          <a:ln/>
        </p:spPr>
        <p:txBody>
          <a:bodyPr wrap="square" rtlCol="0" anchor="ctr"/>
          <a:lstStyle/>
          <a:p>
            <a:pPr indent="0" marL="0">
              <a:buNone/>
            </a:pPr>
            <a:r>
              <a:rPr lang="en-US" sz="1200" dirty="0">
                <a:solidFill>
                  <a:srgbClr val="1F2120"/>
                </a:solidFill>
              </a:rPr>
              <a:t>Open your workbook to the Value Calculator page. Pick your top AI Sweet Spot task and fill in the blanks:</a:t>
            </a:r>
            <a:endParaRPr lang="en-US" sz="1200" dirty="0"/>
          </a:p>
        </p:txBody>
      </p:sp>
      <p:sp>
        <p:nvSpPr>
          <p:cNvPr id="5" name="Text 3"/>
          <p:cNvSpPr/>
          <p:nvPr/>
        </p:nvSpPr>
        <p:spPr>
          <a:xfrm>
            <a:off x="1371600" y="1508760"/>
            <a:ext cx="6400800" cy="365760"/>
          </a:xfrm>
          <a:prstGeom prst="rect">
            <a:avLst/>
          </a:prstGeom>
          <a:noFill/>
          <a:ln/>
        </p:spPr>
        <p:txBody>
          <a:bodyPr wrap="square" rtlCol="0" anchor="ctr"/>
          <a:lstStyle/>
          <a:p>
            <a:pPr indent="0" marL="0">
              <a:buNone/>
            </a:pPr>
            <a:r>
              <a:rPr lang="en-US" sz="1200" dirty="0">
                <a:solidFill>
                  <a:srgbClr val="1F2120"/>
                </a:solidFill>
                <a:latin typeface="Arial" pitchFamily="34" charset="0"/>
                <a:ea typeface="Arial" pitchFamily="34" charset="-122"/>
                <a:cs typeface="Arial" pitchFamily="34" charset="-120"/>
              </a:rPr>
              <a:t>Minutes saved per task: ___</a:t>
            </a:r>
            <a:endParaRPr lang="en-US" sz="1200" dirty="0"/>
          </a:p>
        </p:txBody>
      </p:sp>
      <p:sp>
        <p:nvSpPr>
          <p:cNvPr id="6" name="Text 4"/>
          <p:cNvSpPr/>
          <p:nvPr/>
        </p:nvSpPr>
        <p:spPr>
          <a:xfrm>
            <a:off x="1371600" y="1965960"/>
            <a:ext cx="6400800" cy="365760"/>
          </a:xfrm>
          <a:prstGeom prst="rect">
            <a:avLst/>
          </a:prstGeom>
          <a:noFill/>
          <a:ln/>
        </p:spPr>
        <p:txBody>
          <a:bodyPr wrap="square" rtlCol="0" anchor="ctr"/>
          <a:lstStyle/>
          <a:p>
            <a:pPr indent="0" marL="0">
              <a:buNone/>
            </a:pPr>
            <a:r>
              <a:rPr lang="en-US" sz="1200" dirty="0">
                <a:solidFill>
                  <a:srgbClr val="1F2120"/>
                </a:solidFill>
                <a:latin typeface="Arial" pitchFamily="34" charset="0"/>
                <a:ea typeface="Arial" pitchFamily="34" charset="-122"/>
                <a:cs typeface="Arial" pitchFamily="34" charset="-120"/>
              </a:rPr>
              <a:t>Times per year: ___</a:t>
            </a:r>
            <a:endParaRPr lang="en-US" sz="1200" dirty="0"/>
          </a:p>
        </p:txBody>
      </p:sp>
      <p:sp>
        <p:nvSpPr>
          <p:cNvPr id="7" name="Text 5"/>
          <p:cNvSpPr/>
          <p:nvPr/>
        </p:nvSpPr>
        <p:spPr>
          <a:xfrm>
            <a:off x="1371600" y="2423160"/>
            <a:ext cx="6400800" cy="365760"/>
          </a:xfrm>
          <a:prstGeom prst="rect">
            <a:avLst/>
          </a:prstGeom>
          <a:noFill/>
          <a:ln/>
        </p:spPr>
        <p:txBody>
          <a:bodyPr wrap="square" rtlCol="0" anchor="ctr"/>
          <a:lstStyle/>
          <a:p>
            <a:pPr indent="0" marL="0">
              <a:buNone/>
            </a:pPr>
            <a:r>
              <a:rPr lang="en-US" sz="1200" dirty="0">
                <a:solidFill>
                  <a:srgbClr val="1F2120"/>
                </a:solidFill>
                <a:latin typeface="Arial" pitchFamily="34" charset="0"/>
                <a:ea typeface="Arial" pitchFamily="34" charset="-122"/>
                <a:cs typeface="Arial" pitchFamily="34" charset="-120"/>
              </a:rPr>
              <a:t>Your hourly rate: $___</a:t>
            </a:r>
            <a:endParaRPr lang="en-US" sz="1200" dirty="0"/>
          </a:p>
        </p:txBody>
      </p:sp>
      <p:sp>
        <p:nvSpPr>
          <p:cNvPr id="8" name="Text 6"/>
          <p:cNvSpPr/>
          <p:nvPr/>
        </p:nvSpPr>
        <p:spPr>
          <a:xfrm>
            <a:off x="1371600" y="2880360"/>
            <a:ext cx="6400800" cy="365760"/>
          </a:xfrm>
          <a:prstGeom prst="rect">
            <a:avLst/>
          </a:prstGeom>
          <a:noFill/>
          <a:ln/>
        </p:spPr>
        <p:txBody>
          <a:bodyPr wrap="square" rtlCol="0" anchor="ctr"/>
          <a:lstStyle/>
          <a:p>
            <a:pPr indent="0" marL="0">
              <a:buNone/>
            </a:pPr>
            <a:r>
              <a:rPr lang="en-US" sz="1200" dirty="0">
                <a:solidFill>
                  <a:srgbClr val="1F2120"/>
                </a:solidFill>
                <a:latin typeface="Arial" pitchFamily="34" charset="0"/>
                <a:ea typeface="Arial" pitchFamily="34" charset="-122"/>
                <a:cs typeface="Arial" pitchFamily="34" charset="-120"/>
              </a:rPr>
              <a:t>Annual value: (___) × (___) × ($___) = $_____</a:t>
            </a:r>
            <a:endParaRPr lang="en-US" sz="1200" dirty="0"/>
          </a:p>
        </p:txBody>
      </p:sp>
      <p:sp>
        <p:nvSpPr>
          <p:cNvPr id="9" name="Text 7"/>
          <p:cNvSpPr/>
          <p:nvPr/>
        </p:nvSpPr>
        <p:spPr>
          <a:xfrm>
            <a:off x="457200" y="4114800"/>
            <a:ext cx="8229600" cy="457200"/>
          </a:xfrm>
          <a:prstGeom prst="rect">
            <a:avLst/>
          </a:prstGeom>
          <a:noFill/>
          <a:ln/>
        </p:spPr>
        <p:txBody>
          <a:bodyPr wrap="square" rtlCol="0" anchor="ctr"/>
          <a:lstStyle/>
          <a:p>
            <a:pPr algn="ctr" indent="0" marL="0">
              <a:buNone/>
            </a:pPr>
            <a:r>
              <a:rPr lang="en-US" sz="1100" i="1" dirty="0">
                <a:solidFill>
                  <a:srgbClr val="707070"/>
                </a:solidFill>
              </a:rPr>
              <a:t>You have 3-4 minutes. I'll wait, then we'll talk through what you found.</a:t>
            </a:r>
            <a:endParaRPr lang="en-US" sz="1100" dirty="0"/>
          </a:p>
        </p:txBody>
      </p:sp>
      <p:sp>
        <p:nvSpPr>
          <p:cNvPr id="10" name="Text 8"/>
          <p:cNvSpPr/>
          <p:nvPr/>
        </p:nvSpPr>
        <p:spPr>
          <a:xfrm>
            <a:off x="457200" y="4617720"/>
            <a:ext cx="8229600" cy="320040"/>
          </a:xfrm>
          <a:prstGeom prst="rect">
            <a:avLst/>
          </a:prstGeom>
          <a:noFill/>
          <a:ln/>
        </p:spPr>
        <p:txBody>
          <a:bodyPr wrap="square" rtlCol="0" anchor="ctr"/>
          <a:lstStyle/>
          <a:p>
            <a:pPr indent="0" marL="0">
              <a:buNone/>
            </a:pPr>
            <a:r>
              <a:rPr lang="en-US" sz="900" i="1" dirty="0">
                <a:solidFill>
                  <a:srgbClr val="707070"/>
                </a:solidFill>
              </a:rPr>
              <a:t>Adapted from the value threshold concept in Tobias Zwingmann, The Profitable AI Advantage (Packt, 2025)</a:t>
            </a:r>
            <a:endParaRPr lang="en-US" sz="900" dirty="0"/>
          </a:p>
        </p:txBody>
      </p:sp>
      <p:sp>
        <p:nvSpPr>
          <p:cNvPr id="11" name="Shape 9"/>
          <p:cNvSpPr/>
          <p:nvPr/>
        </p:nvSpPr>
        <p:spPr>
          <a:xfrm>
            <a:off x="8503920" y="4572000"/>
            <a:ext cx="182880" cy="182880"/>
          </a:xfrm>
          <a:prstGeom prst="triangle">
            <a:avLst/>
          </a:prstGeom>
          <a:solidFill>
            <a:srgbClr val="CF3338"/>
          </a:solidFill>
          <a:ln/>
        </p:spPr>
      </p:sp>
      <p:sp>
        <p:nvSpPr>
          <p:cNvPr id="12" name="Shape 10"/>
          <p:cNvSpPr/>
          <p:nvPr/>
        </p:nvSpPr>
        <p:spPr>
          <a:xfrm>
            <a:off x="8668512" y="4736592"/>
            <a:ext cx="182880" cy="182880"/>
          </a:xfrm>
          <a:prstGeom prst="triangle">
            <a:avLst/>
          </a:prstGeom>
          <a:solidFill>
            <a:srgbClr val="CF3338"/>
          </a:solidFill>
          <a:ln/>
        </p:spPr>
      </p:sp>
      <p:sp>
        <p:nvSpPr>
          <p:cNvPr id="13" name="Shape 11"/>
          <p:cNvSpPr/>
          <p:nvPr/>
        </p:nvSpPr>
        <p:spPr>
          <a:xfrm>
            <a:off x="8833104" y="4901184"/>
            <a:ext cx="182880" cy="182880"/>
          </a:xfrm>
          <a:prstGeom prst="triangle">
            <a:avLst/>
          </a:prstGeom>
          <a:solidFill>
            <a:srgbClr val="CF3338"/>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2103120"/>
            <a:ext cx="8229600" cy="914400"/>
          </a:xfrm>
          <a:prstGeom prst="rect">
            <a:avLst/>
          </a:prstGeom>
          <a:noFill/>
          <a:ln/>
        </p:spPr>
        <p:txBody>
          <a:bodyPr wrap="square"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Your One Commitment</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Pick ONE Task. Start THIS WEEK.</a:t>
            </a:r>
            <a:endParaRPr lang="en-US" sz="2800" dirty="0"/>
          </a:p>
        </p:txBody>
      </p:sp>
      <p:sp>
        <p:nvSpPr>
          <p:cNvPr id="4" name="Text 2"/>
          <p:cNvSpPr/>
          <p:nvPr/>
        </p:nvSpPr>
        <p:spPr>
          <a:xfrm>
            <a:off x="457200" y="960120"/>
            <a:ext cx="8229600" cy="365760"/>
          </a:xfrm>
          <a:prstGeom prst="rect">
            <a:avLst/>
          </a:prstGeom>
          <a:noFill/>
          <a:ln/>
        </p:spPr>
        <p:txBody>
          <a:bodyPr wrap="square" rtlCol="0" anchor="ctr"/>
          <a:lstStyle/>
          <a:p>
            <a:pPr indent="0" marL="0">
              <a:buNone/>
            </a:pPr>
            <a:r>
              <a:rPr lang="en-US" sz="1200" dirty="0">
                <a:solidFill>
                  <a:srgbClr val="1F2120"/>
                </a:solidFill>
              </a:rPr>
              <a:t>Don't try to change everything at once. Pick one task from your AI Sweet Spot.</a:t>
            </a:r>
            <a:endParaRPr lang="en-US" sz="1200" dirty="0"/>
          </a:p>
        </p:txBody>
      </p:sp>
      <p:sp>
        <p:nvSpPr>
          <p:cNvPr id="5" name="Text 3"/>
          <p:cNvSpPr/>
          <p:nvPr/>
        </p:nvSpPr>
        <p:spPr>
          <a:xfrm>
            <a:off x="457200" y="1417320"/>
            <a:ext cx="8229600" cy="274320"/>
          </a:xfrm>
          <a:prstGeom prst="rect">
            <a:avLst/>
          </a:prstGeom>
          <a:noFill/>
          <a:ln/>
        </p:spPr>
        <p:txBody>
          <a:bodyPr wrap="square" rtlCol="0" anchor="ctr"/>
          <a:lstStyle/>
          <a:p>
            <a:pPr indent="0" marL="0">
              <a:buNone/>
            </a:pPr>
            <a:r>
              <a:rPr lang="en-US" sz="1200" b="1" dirty="0">
                <a:solidFill>
                  <a:srgbClr val="CF3338"/>
                </a:solidFill>
                <a:latin typeface="Arial Black" pitchFamily="34" charset="0"/>
                <a:ea typeface="Arial Black" pitchFamily="34" charset="-122"/>
                <a:cs typeface="Arial Black" pitchFamily="34" charset="-120"/>
              </a:rPr>
              <a:t>In your workbook, write down:</a:t>
            </a:r>
            <a:endParaRPr lang="en-US" sz="1200" dirty="0"/>
          </a:p>
        </p:txBody>
      </p:sp>
      <p:sp>
        <p:nvSpPr>
          <p:cNvPr id="6" name="Text 4"/>
          <p:cNvSpPr/>
          <p:nvPr/>
        </p:nvSpPr>
        <p:spPr>
          <a:xfrm>
            <a:off x="914400" y="1783080"/>
            <a:ext cx="7772400" cy="320040"/>
          </a:xfrm>
          <a:prstGeom prst="rect">
            <a:avLst/>
          </a:prstGeom>
          <a:noFill/>
          <a:ln/>
        </p:spPr>
        <p:txBody>
          <a:bodyPr wrap="square" rtlCol="0" anchor="ctr"/>
          <a:lstStyle/>
          <a:p>
            <a:pPr indent="0" marL="0">
              <a:buNone/>
            </a:pPr>
            <a:r>
              <a:rPr lang="en-US" sz="1100" dirty="0">
                <a:solidFill>
                  <a:srgbClr val="1F2120"/>
                </a:solidFill>
                <a:latin typeface="Arial" pitchFamily="34" charset="0"/>
                <a:ea typeface="Arial" pitchFamily="34" charset="-122"/>
                <a:cs typeface="Arial" pitchFamily="34" charset="-120"/>
              </a:rPr>
              <a:t>The task: ___________________</a:t>
            </a:r>
            <a:endParaRPr lang="en-US" sz="1100" dirty="0"/>
          </a:p>
        </p:txBody>
      </p:sp>
      <p:sp>
        <p:nvSpPr>
          <p:cNvPr id="7" name="Text 5"/>
          <p:cNvSpPr/>
          <p:nvPr/>
        </p:nvSpPr>
        <p:spPr>
          <a:xfrm>
            <a:off x="914400" y="2240280"/>
            <a:ext cx="7772400" cy="320040"/>
          </a:xfrm>
          <a:prstGeom prst="rect">
            <a:avLst/>
          </a:prstGeom>
          <a:noFill/>
          <a:ln/>
        </p:spPr>
        <p:txBody>
          <a:bodyPr wrap="square" rtlCol="0" anchor="ctr"/>
          <a:lstStyle/>
          <a:p>
            <a:pPr indent="0" marL="0">
              <a:buNone/>
            </a:pPr>
            <a:r>
              <a:rPr lang="en-US" sz="1100" dirty="0">
                <a:solidFill>
                  <a:srgbClr val="1F2120"/>
                </a:solidFill>
                <a:latin typeface="Arial" pitchFamily="34" charset="0"/>
                <a:ea typeface="Arial" pitchFamily="34" charset="-122"/>
                <a:cs typeface="Arial" pitchFamily="34" charset="-120"/>
              </a:rPr>
              <a:t>The tool I'll use: ___ ChatGPT ___ Claude ___ Gemini ___ M365 Copilot ___ Other (check with your IT team)</a:t>
            </a:r>
            <a:endParaRPr lang="en-US" sz="1100" dirty="0"/>
          </a:p>
        </p:txBody>
      </p:sp>
      <p:sp>
        <p:nvSpPr>
          <p:cNvPr id="8" name="Text 6"/>
          <p:cNvSpPr/>
          <p:nvPr/>
        </p:nvSpPr>
        <p:spPr>
          <a:xfrm>
            <a:off x="914400" y="2697480"/>
            <a:ext cx="7772400" cy="320040"/>
          </a:xfrm>
          <a:prstGeom prst="rect">
            <a:avLst/>
          </a:prstGeom>
          <a:noFill/>
          <a:ln/>
        </p:spPr>
        <p:txBody>
          <a:bodyPr wrap="square" rtlCol="0" anchor="ctr"/>
          <a:lstStyle/>
          <a:p>
            <a:pPr indent="0" marL="0">
              <a:buNone/>
            </a:pPr>
            <a:r>
              <a:rPr lang="en-US" sz="1100" dirty="0">
                <a:solidFill>
                  <a:srgbClr val="1F2120"/>
                </a:solidFill>
                <a:latin typeface="Arial" pitchFamily="34" charset="0"/>
                <a:ea typeface="Arial" pitchFamily="34" charset="-122"/>
                <a:cs typeface="Arial" pitchFamily="34" charset="-120"/>
              </a:rPr>
              <a:t>When I'll try it: ___ This week ___ Next week</a:t>
            </a:r>
            <a:endParaRPr lang="en-US" sz="1100" dirty="0"/>
          </a:p>
        </p:txBody>
      </p:sp>
      <p:sp>
        <p:nvSpPr>
          <p:cNvPr id="9" name="Text 7"/>
          <p:cNvSpPr/>
          <p:nvPr/>
        </p:nvSpPr>
        <p:spPr>
          <a:xfrm>
            <a:off x="914400" y="3154680"/>
            <a:ext cx="7772400" cy="320040"/>
          </a:xfrm>
          <a:prstGeom prst="rect">
            <a:avLst/>
          </a:prstGeom>
          <a:noFill/>
          <a:ln/>
        </p:spPr>
        <p:txBody>
          <a:bodyPr wrap="square" rtlCol="0" anchor="ctr"/>
          <a:lstStyle/>
          <a:p>
            <a:pPr indent="0" marL="0">
              <a:buNone/>
            </a:pPr>
            <a:r>
              <a:rPr lang="en-US" sz="1100" dirty="0">
                <a:solidFill>
                  <a:srgbClr val="1F2120"/>
                </a:solidFill>
                <a:latin typeface="Arial" pitchFamily="34" charset="0"/>
                <a:ea typeface="Arial" pitchFamily="34" charset="-122"/>
                <a:cs typeface="Arial" pitchFamily="34" charset="-120"/>
              </a:rPr>
              <a:t>What success looks like: ___________________</a:t>
            </a:r>
            <a:endParaRPr lang="en-US" sz="1100" dirty="0"/>
          </a:p>
        </p:txBody>
      </p:sp>
      <p:sp>
        <p:nvSpPr>
          <p:cNvPr id="10" name="Text 8"/>
          <p:cNvSpPr/>
          <p:nvPr/>
        </p:nvSpPr>
        <p:spPr>
          <a:xfrm>
            <a:off x="457200" y="4206240"/>
            <a:ext cx="8229600" cy="548640"/>
          </a:xfrm>
          <a:prstGeom prst="rect">
            <a:avLst/>
          </a:prstGeom>
          <a:noFill/>
          <a:ln/>
        </p:spPr>
        <p:txBody>
          <a:bodyPr wrap="square" rtlCol="0" anchor="ctr"/>
          <a:lstStyle/>
          <a:p>
            <a:pPr algn="ctr" indent="0" marL="0">
              <a:buNone/>
            </a:pPr>
            <a:r>
              <a:rPr lang="en-US" sz="1200" i="1" dirty="0">
                <a:solidFill>
                  <a:srgbClr val="707070"/>
                </a:solidFill>
              </a:rPr>
              <a:t>You don't have to be perfect. You just have to try.</a:t>
            </a:r>
            <a:endParaRPr lang="en-US" sz="1200" dirty="0"/>
          </a:p>
        </p:txBody>
      </p:sp>
      <p:sp>
        <p:nvSpPr>
          <p:cNvPr id="11" name="Shape 9"/>
          <p:cNvSpPr/>
          <p:nvPr/>
        </p:nvSpPr>
        <p:spPr>
          <a:xfrm>
            <a:off x="8503920" y="4572000"/>
            <a:ext cx="182880" cy="182880"/>
          </a:xfrm>
          <a:prstGeom prst="triangle">
            <a:avLst/>
          </a:prstGeom>
          <a:solidFill>
            <a:srgbClr val="CF3338"/>
          </a:solidFill>
          <a:ln/>
        </p:spPr>
      </p:sp>
      <p:sp>
        <p:nvSpPr>
          <p:cNvPr id="12" name="Shape 10"/>
          <p:cNvSpPr/>
          <p:nvPr/>
        </p:nvSpPr>
        <p:spPr>
          <a:xfrm>
            <a:off x="8668512" y="4736592"/>
            <a:ext cx="182880" cy="182880"/>
          </a:xfrm>
          <a:prstGeom prst="triangle">
            <a:avLst/>
          </a:prstGeom>
          <a:solidFill>
            <a:srgbClr val="CF3338"/>
          </a:solidFill>
          <a:ln/>
        </p:spPr>
      </p:sp>
      <p:sp>
        <p:nvSpPr>
          <p:cNvPr id="13" name="Shape 11"/>
          <p:cNvSpPr/>
          <p:nvPr/>
        </p:nvSpPr>
        <p:spPr>
          <a:xfrm>
            <a:off x="8833104" y="4901184"/>
            <a:ext cx="182880" cy="182880"/>
          </a:xfrm>
          <a:prstGeom prst="triangle">
            <a:avLst/>
          </a:prstGeom>
          <a:solidFill>
            <a:srgbClr val="CF3338"/>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CF3338"/>
          </a:solidFill>
          <a:ln/>
        </p:spPr>
      </p:sp>
      <p:sp>
        <p:nvSpPr>
          <p:cNvPr id="3" name="Text 1"/>
          <p:cNvSpPr/>
          <p:nvPr/>
        </p:nvSpPr>
        <p:spPr>
          <a:xfrm>
            <a:off x="457200" y="137160"/>
            <a:ext cx="8229600" cy="45720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Thank You</a:t>
            </a:r>
            <a:endParaRPr lang="en-US" sz="3600" dirty="0"/>
          </a:p>
        </p:txBody>
      </p:sp>
      <p:sp>
        <p:nvSpPr>
          <p:cNvPr id="4" name="Text 2"/>
          <p:cNvSpPr/>
          <p:nvPr/>
        </p:nvSpPr>
        <p:spPr>
          <a:xfrm>
            <a:off x="457200" y="1188720"/>
            <a:ext cx="8229600" cy="365760"/>
          </a:xfrm>
          <a:prstGeom prst="rect">
            <a:avLst/>
          </a:prstGeom>
          <a:noFill/>
          <a:ln/>
        </p:spPr>
        <p:txBody>
          <a:bodyPr wrap="square" rtlCol="0" anchor="ctr"/>
          <a:lstStyle/>
          <a:p>
            <a:pPr algn="ctr" indent="0" marL="0">
              <a:buNone/>
            </a:pPr>
            <a:r>
              <a:rPr lang="en-US" sz="1600" dirty="0">
                <a:solidFill>
                  <a:srgbClr val="1F2120"/>
                </a:solidFill>
              </a:rPr>
              <a:t>You now have a repeatable system.</a:t>
            </a:r>
            <a:endParaRPr lang="en-US" sz="1600" dirty="0"/>
          </a:p>
        </p:txBody>
      </p:sp>
      <p:sp>
        <p:nvSpPr>
          <p:cNvPr id="5" name="Shape 3"/>
          <p:cNvSpPr/>
          <p:nvPr/>
        </p:nvSpPr>
        <p:spPr>
          <a:xfrm>
            <a:off x="1371600" y="1737360"/>
            <a:ext cx="6400800" cy="1828800"/>
          </a:xfrm>
          <a:prstGeom prst="rect">
            <a:avLst/>
          </a:prstGeom>
          <a:solidFill>
            <a:srgbClr val="EEECE1"/>
          </a:solidFill>
          <a:ln w="25400">
            <a:solidFill>
              <a:srgbClr val="CF3338"/>
            </a:solidFill>
            <a:prstDash val="solid"/>
          </a:ln>
        </p:spPr>
      </p:sp>
      <p:sp>
        <p:nvSpPr>
          <p:cNvPr id="6" name="Text 4"/>
          <p:cNvSpPr/>
          <p:nvPr/>
        </p:nvSpPr>
        <p:spPr>
          <a:xfrm>
            <a:off x="1554480" y="1920240"/>
            <a:ext cx="6035040" cy="1463040"/>
          </a:xfrm>
          <a:prstGeom prst="rect">
            <a:avLst/>
          </a:prstGeom>
          <a:noFill/>
          <a:ln/>
        </p:spPr>
        <p:txBody>
          <a:bodyPr wrap="square" rtlCol="0" anchor="ctr"/>
          <a:lstStyle/>
          <a:p>
            <a:pPr algn="ctr" indent="0" marL="0">
              <a:buNone/>
            </a:pPr>
            <a:r>
              <a:rPr lang="en-US" sz="1200" dirty="0">
                <a:solidFill>
                  <a:srgbClr val="1F2120"/>
                </a:solidFill>
              </a:rPr>
              <a:t>SAFE Framework → 2×2 Matrix → Exposure &amp; Frequency → IA-AI Deployment → Your Commitment</a:t>
            </a:r>
            <a:endParaRPr lang="en-US" sz="1200" dirty="0"/>
          </a:p>
        </p:txBody>
      </p:sp>
      <p:sp>
        <p:nvSpPr>
          <p:cNvPr id="7" name="Text 5"/>
          <p:cNvSpPr/>
          <p:nvPr/>
        </p:nvSpPr>
        <p:spPr>
          <a:xfrm>
            <a:off x="457200" y="3840480"/>
            <a:ext cx="8229600" cy="365760"/>
          </a:xfrm>
          <a:prstGeom prst="rect">
            <a:avLst/>
          </a:prstGeom>
          <a:noFill/>
          <a:ln/>
        </p:spPr>
        <p:txBody>
          <a:bodyPr wrap="square" rtlCol="0" anchor="ctr"/>
          <a:lstStyle/>
          <a:p>
            <a:pPr algn="ctr" indent="0" marL="0">
              <a:buNone/>
            </a:pPr>
            <a:r>
              <a:rPr lang="en-US" sz="1100" dirty="0">
                <a:solidFill>
                  <a:srgbClr val="707070"/>
                </a:solidFill>
              </a:rPr>
              <a:t>Next: Check your email for a follow-up with resources and our community link.</a:t>
            </a:r>
            <a:endParaRPr lang="en-US" sz="1100" dirty="0"/>
          </a:p>
        </p:txBody>
      </p:sp>
      <p:sp>
        <p:nvSpPr>
          <p:cNvPr id="8" name="Text 6"/>
          <p:cNvSpPr/>
          <p:nvPr/>
        </p:nvSpPr>
        <p:spPr>
          <a:xfrm>
            <a:off x="457200" y="4572000"/>
            <a:ext cx="8229600" cy="365760"/>
          </a:xfrm>
          <a:prstGeom prst="rect">
            <a:avLst/>
          </a:prstGeom>
          <a:noFill/>
          <a:ln/>
        </p:spPr>
        <p:txBody>
          <a:bodyPr wrap="square" rtlCol="0" anchor="ctr"/>
          <a:lstStyle/>
          <a:p>
            <a:pPr algn="ctr" indent="0" marL="0">
              <a:buNone/>
            </a:pPr>
            <a:r>
              <a:rPr lang="en-US" sz="1200" b="1" dirty="0">
                <a:solidFill>
                  <a:srgbClr val="707070"/>
                </a:solidFill>
              </a:rPr>
              <a:t>Stringfest Analytics</a:t>
            </a:r>
            <a:endParaRPr lang="en-US" sz="1200" dirty="0"/>
          </a:p>
        </p:txBody>
      </p:sp>
      <p:sp>
        <p:nvSpPr>
          <p:cNvPr id="9" name="Shape 7"/>
          <p:cNvSpPr/>
          <p:nvPr/>
        </p:nvSpPr>
        <p:spPr>
          <a:xfrm>
            <a:off x="8503920" y="4572000"/>
            <a:ext cx="182880" cy="182880"/>
          </a:xfrm>
          <a:prstGeom prst="triangle">
            <a:avLst/>
          </a:prstGeom>
          <a:solidFill>
            <a:srgbClr val="CF3338"/>
          </a:solidFill>
          <a:ln/>
        </p:spPr>
      </p:sp>
      <p:sp>
        <p:nvSpPr>
          <p:cNvPr id="10" name="Shape 8"/>
          <p:cNvSpPr/>
          <p:nvPr/>
        </p:nvSpPr>
        <p:spPr>
          <a:xfrm>
            <a:off x="8668512" y="4736592"/>
            <a:ext cx="182880" cy="182880"/>
          </a:xfrm>
          <a:prstGeom prst="triangle">
            <a:avLst/>
          </a:prstGeom>
          <a:solidFill>
            <a:srgbClr val="CF3338"/>
          </a:solidFill>
          <a:ln/>
        </p:spPr>
      </p:sp>
      <p:sp>
        <p:nvSpPr>
          <p:cNvPr id="11" name="Shape 9"/>
          <p:cNvSpPr/>
          <p:nvPr/>
        </p:nvSpPr>
        <p:spPr>
          <a:xfrm>
            <a:off x="8833104" y="4901184"/>
            <a:ext cx="182880" cy="182880"/>
          </a:xfrm>
          <a:prstGeom prst="triangle">
            <a:avLst/>
          </a:prstGeom>
          <a:solidFill>
            <a:srgbClr val="CF3338"/>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F3338"/>
          </a:solidFill>
          <a:ln/>
        </p:spPr>
      </p:sp>
      <p:sp>
        <p:nvSpPr>
          <p:cNvPr id="3" name="Text 1"/>
          <p:cNvSpPr/>
          <p:nvPr/>
        </p:nvSpPr>
        <p:spPr>
          <a:xfrm>
            <a:off x="457200" y="109728"/>
            <a:ext cx="822960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Resources &amp; Questions</a:t>
            </a:r>
            <a:endParaRPr lang="en-US" sz="2800" dirty="0"/>
          </a:p>
        </p:txBody>
      </p:sp>
      <p:sp>
        <p:nvSpPr>
          <p:cNvPr id="4" name="Text 2"/>
          <p:cNvSpPr/>
          <p:nvPr/>
        </p:nvSpPr>
        <p:spPr>
          <a:xfrm>
            <a:off x="457200" y="1005840"/>
            <a:ext cx="8229600" cy="27432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Common AI Tools by Category:</a:t>
            </a:r>
            <a:endParaRPr lang="en-US" sz="1300" dirty="0"/>
          </a:p>
        </p:txBody>
      </p:sp>
      <p:sp>
        <p:nvSpPr>
          <p:cNvPr id="5" name="Shape 3"/>
          <p:cNvSpPr/>
          <p:nvPr/>
        </p:nvSpPr>
        <p:spPr>
          <a:xfrm>
            <a:off x="640080" y="1444752"/>
            <a:ext cx="91440" cy="91440"/>
          </a:xfrm>
          <a:prstGeom prst="ellipse">
            <a:avLst/>
          </a:prstGeom>
          <a:solidFill>
            <a:srgbClr val="CF3338"/>
          </a:solidFill>
          <a:ln/>
        </p:spPr>
      </p:sp>
      <p:sp>
        <p:nvSpPr>
          <p:cNvPr id="6" name="Text 4"/>
          <p:cNvSpPr/>
          <p:nvPr/>
        </p:nvSpPr>
        <p:spPr>
          <a:xfrm>
            <a:off x="1005840" y="1371600"/>
            <a:ext cx="7680960" cy="274320"/>
          </a:xfrm>
          <a:prstGeom prst="rect">
            <a:avLst/>
          </a:prstGeom>
          <a:noFill/>
          <a:ln/>
        </p:spPr>
        <p:txBody>
          <a:bodyPr wrap="square" rtlCol="0" anchor="ctr"/>
          <a:lstStyle/>
          <a:p>
            <a:pPr indent="0" marL="0">
              <a:buNone/>
            </a:pPr>
            <a:r>
              <a:rPr lang="en-US" sz="1100" dirty="0">
                <a:solidFill>
                  <a:srgbClr val="1F2120"/>
                </a:solidFill>
              </a:rPr>
              <a:t>ChatGPT: openai.com/chatgpt</a:t>
            </a:r>
            <a:endParaRPr lang="en-US" sz="1100" dirty="0"/>
          </a:p>
        </p:txBody>
      </p:sp>
      <p:sp>
        <p:nvSpPr>
          <p:cNvPr id="7" name="Shape 5"/>
          <p:cNvSpPr/>
          <p:nvPr/>
        </p:nvSpPr>
        <p:spPr>
          <a:xfrm>
            <a:off x="640080" y="1764792"/>
            <a:ext cx="91440" cy="91440"/>
          </a:xfrm>
          <a:prstGeom prst="ellipse">
            <a:avLst/>
          </a:prstGeom>
          <a:solidFill>
            <a:srgbClr val="CF3338"/>
          </a:solidFill>
          <a:ln/>
        </p:spPr>
      </p:sp>
      <p:sp>
        <p:nvSpPr>
          <p:cNvPr id="8" name="Text 6"/>
          <p:cNvSpPr/>
          <p:nvPr/>
        </p:nvSpPr>
        <p:spPr>
          <a:xfrm>
            <a:off x="1005840" y="1691640"/>
            <a:ext cx="7680960" cy="274320"/>
          </a:xfrm>
          <a:prstGeom prst="rect">
            <a:avLst/>
          </a:prstGeom>
          <a:noFill/>
          <a:ln/>
        </p:spPr>
        <p:txBody>
          <a:bodyPr wrap="square" rtlCol="0" anchor="ctr"/>
          <a:lstStyle/>
          <a:p>
            <a:pPr indent="0" marL="0">
              <a:buNone/>
            </a:pPr>
            <a:r>
              <a:rPr lang="en-US" sz="1100" dirty="0">
                <a:solidFill>
                  <a:srgbClr val="1F2120"/>
                </a:solidFill>
              </a:rPr>
              <a:t>Claude: claude.ai</a:t>
            </a:r>
            <a:endParaRPr lang="en-US" sz="1100" dirty="0"/>
          </a:p>
        </p:txBody>
      </p:sp>
      <p:sp>
        <p:nvSpPr>
          <p:cNvPr id="9" name="Shape 7"/>
          <p:cNvSpPr/>
          <p:nvPr/>
        </p:nvSpPr>
        <p:spPr>
          <a:xfrm>
            <a:off x="640080" y="2084832"/>
            <a:ext cx="91440" cy="91440"/>
          </a:xfrm>
          <a:prstGeom prst="ellipse">
            <a:avLst/>
          </a:prstGeom>
          <a:solidFill>
            <a:srgbClr val="CF3338"/>
          </a:solidFill>
          <a:ln/>
        </p:spPr>
      </p:sp>
      <p:sp>
        <p:nvSpPr>
          <p:cNvPr id="10" name="Text 8"/>
          <p:cNvSpPr/>
          <p:nvPr/>
        </p:nvSpPr>
        <p:spPr>
          <a:xfrm>
            <a:off x="1005840" y="2011680"/>
            <a:ext cx="7680960" cy="274320"/>
          </a:xfrm>
          <a:prstGeom prst="rect">
            <a:avLst/>
          </a:prstGeom>
          <a:noFill/>
          <a:ln/>
        </p:spPr>
        <p:txBody>
          <a:bodyPr wrap="square" rtlCol="0" anchor="ctr"/>
          <a:lstStyle/>
          <a:p>
            <a:pPr indent="0" marL="0">
              <a:buNone/>
            </a:pPr>
            <a:r>
              <a:rPr lang="en-US" sz="1100" dirty="0">
                <a:solidFill>
                  <a:srgbClr val="1F2120"/>
                </a:solidFill>
              </a:rPr>
              <a:t>Gemini: google.com/gemini</a:t>
            </a:r>
            <a:endParaRPr lang="en-US" sz="1100" dirty="0"/>
          </a:p>
        </p:txBody>
      </p:sp>
      <p:sp>
        <p:nvSpPr>
          <p:cNvPr id="11" name="Shape 9"/>
          <p:cNvSpPr/>
          <p:nvPr/>
        </p:nvSpPr>
        <p:spPr>
          <a:xfrm>
            <a:off x="640080" y="2404872"/>
            <a:ext cx="91440" cy="91440"/>
          </a:xfrm>
          <a:prstGeom prst="ellipse">
            <a:avLst/>
          </a:prstGeom>
          <a:solidFill>
            <a:srgbClr val="CF3338"/>
          </a:solidFill>
          <a:ln/>
        </p:spPr>
      </p:sp>
      <p:sp>
        <p:nvSpPr>
          <p:cNvPr id="12" name="Text 10"/>
          <p:cNvSpPr/>
          <p:nvPr/>
        </p:nvSpPr>
        <p:spPr>
          <a:xfrm>
            <a:off x="1005840" y="2331720"/>
            <a:ext cx="7680960" cy="274320"/>
          </a:xfrm>
          <a:prstGeom prst="rect">
            <a:avLst/>
          </a:prstGeom>
          <a:noFill/>
          <a:ln/>
        </p:spPr>
        <p:txBody>
          <a:bodyPr wrap="square" rtlCol="0" anchor="ctr"/>
          <a:lstStyle/>
          <a:p>
            <a:pPr indent="0" marL="0">
              <a:buNone/>
            </a:pPr>
            <a:r>
              <a:rPr lang="en-US" sz="1100" dirty="0">
                <a:solidFill>
                  <a:srgbClr val="1F2120"/>
                </a:solidFill>
              </a:rPr>
              <a:t>Excel Copilot: microsoft.com/copilot</a:t>
            </a:r>
            <a:endParaRPr lang="en-US" sz="1100" dirty="0"/>
          </a:p>
        </p:txBody>
      </p:sp>
      <p:sp>
        <p:nvSpPr>
          <p:cNvPr id="13" name="Shape 11"/>
          <p:cNvSpPr/>
          <p:nvPr/>
        </p:nvSpPr>
        <p:spPr>
          <a:xfrm>
            <a:off x="640080" y="2724912"/>
            <a:ext cx="91440" cy="91440"/>
          </a:xfrm>
          <a:prstGeom prst="ellipse">
            <a:avLst/>
          </a:prstGeom>
          <a:solidFill>
            <a:srgbClr val="CF3338"/>
          </a:solidFill>
          <a:ln/>
        </p:spPr>
      </p:sp>
      <p:sp>
        <p:nvSpPr>
          <p:cNvPr id="14" name="Text 12"/>
          <p:cNvSpPr/>
          <p:nvPr/>
        </p:nvSpPr>
        <p:spPr>
          <a:xfrm>
            <a:off x="1005840" y="2651760"/>
            <a:ext cx="7680960" cy="274320"/>
          </a:xfrm>
          <a:prstGeom prst="rect">
            <a:avLst/>
          </a:prstGeom>
          <a:noFill/>
          <a:ln/>
        </p:spPr>
        <p:txBody>
          <a:bodyPr wrap="square" rtlCol="0" anchor="ctr"/>
          <a:lstStyle/>
          <a:p>
            <a:pPr indent="0" marL="0">
              <a:buNone/>
            </a:pPr>
            <a:r>
              <a:rPr lang="en-US" sz="1100" dirty="0">
                <a:solidFill>
                  <a:srgbClr val="1F2120"/>
                </a:solidFill>
              </a:rPr>
              <a:t>Zapier: zapier.com</a:t>
            </a:r>
            <a:endParaRPr lang="en-US" sz="1100" dirty="0"/>
          </a:p>
        </p:txBody>
      </p:sp>
      <p:sp>
        <p:nvSpPr>
          <p:cNvPr id="15" name="Shape 13"/>
          <p:cNvSpPr/>
          <p:nvPr/>
        </p:nvSpPr>
        <p:spPr>
          <a:xfrm>
            <a:off x="640080" y="3044952"/>
            <a:ext cx="91440" cy="91440"/>
          </a:xfrm>
          <a:prstGeom prst="ellipse">
            <a:avLst/>
          </a:prstGeom>
          <a:solidFill>
            <a:srgbClr val="CF3338"/>
          </a:solidFill>
          <a:ln/>
        </p:spPr>
      </p:sp>
      <p:sp>
        <p:nvSpPr>
          <p:cNvPr id="16" name="Text 14"/>
          <p:cNvSpPr/>
          <p:nvPr/>
        </p:nvSpPr>
        <p:spPr>
          <a:xfrm>
            <a:off x="1005840" y="2971800"/>
            <a:ext cx="7680960" cy="274320"/>
          </a:xfrm>
          <a:prstGeom prst="rect">
            <a:avLst/>
          </a:prstGeom>
          <a:noFill/>
          <a:ln/>
        </p:spPr>
        <p:txBody>
          <a:bodyPr wrap="square" rtlCol="0" anchor="ctr"/>
          <a:lstStyle/>
          <a:p>
            <a:pPr indent="0" marL="0">
              <a:buNone/>
            </a:pPr>
            <a:r>
              <a:rPr lang="en-US" sz="1100" dirty="0">
                <a:solidFill>
                  <a:srgbClr val="1F2120"/>
                </a:solidFill>
              </a:rPr>
              <a:t>Make: make.com</a:t>
            </a:r>
            <a:endParaRPr lang="en-US" sz="1100" dirty="0"/>
          </a:p>
        </p:txBody>
      </p:sp>
      <p:sp>
        <p:nvSpPr>
          <p:cNvPr id="17" name="Text 15"/>
          <p:cNvSpPr/>
          <p:nvPr/>
        </p:nvSpPr>
        <p:spPr>
          <a:xfrm>
            <a:off x="457200" y="2971800"/>
            <a:ext cx="8229600" cy="365760"/>
          </a:xfrm>
          <a:prstGeom prst="rect">
            <a:avLst/>
          </a:prstGeom>
          <a:noFill/>
          <a:ln/>
        </p:spPr>
        <p:txBody>
          <a:bodyPr wrap="square" rtlCol="0" anchor="ctr"/>
          <a:lstStyle/>
          <a:p>
            <a:pPr indent="0" marL="0">
              <a:buNone/>
            </a:pPr>
            <a:r>
              <a:rPr lang="en-US" sz="1100" i="1" dirty="0">
                <a:solidFill>
                  <a:srgbClr val="707070"/>
                </a:solidFill>
              </a:rPr>
              <a:t>Always verify tool approvals with your IT/security team before using on work data.</a:t>
            </a:r>
            <a:endParaRPr lang="en-US" sz="1100" dirty="0"/>
          </a:p>
        </p:txBody>
      </p:sp>
      <p:sp>
        <p:nvSpPr>
          <p:cNvPr id="18" name="Text 16"/>
          <p:cNvSpPr/>
          <p:nvPr/>
        </p:nvSpPr>
        <p:spPr>
          <a:xfrm>
            <a:off x="457200" y="3429000"/>
            <a:ext cx="8229600" cy="274320"/>
          </a:xfrm>
          <a:prstGeom prst="rect">
            <a:avLst/>
          </a:prstGeom>
          <a:noFill/>
          <a:ln/>
        </p:spPr>
        <p:txBody>
          <a:bodyPr wrap="square"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Recommended Reading:</a:t>
            </a:r>
            <a:endParaRPr lang="en-US" sz="1300" dirty="0"/>
          </a:p>
        </p:txBody>
      </p:sp>
      <p:sp>
        <p:nvSpPr>
          <p:cNvPr id="19" name="Text 17"/>
          <p:cNvSpPr/>
          <p:nvPr/>
        </p:nvSpPr>
        <p:spPr>
          <a:xfrm>
            <a:off x="1005840" y="3749040"/>
            <a:ext cx="7680960" cy="274320"/>
          </a:xfrm>
          <a:prstGeom prst="rect">
            <a:avLst/>
          </a:prstGeom>
          <a:noFill/>
          <a:ln/>
        </p:spPr>
        <p:txBody>
          <a:bodyPr wrap="square" rtlCol="0" anchor="ctr"/>
          <a:lstStyle/>
          <a:p>
            <a:pPr indent="0" marL="0">
              <a:buNone/>
            </a:pPr>
            <a:r>
              <a:rPr lang="en-US" sz="1100" dirty="0">
                <a:solidFill>
                  <a:srgbClr val="1F2120"/>
                </a:solidFill>
              </a:rPr>
              <a:t>The Profitable AI Advantage by Tobias Zwingmann (Packt, 2025)</a:t>
            </a:r>
            <a:endParaRPr lang="en-US" sz="1100" dirty="0"/>
          </a:p>
        </p:txBody>
      </p:sp>
      <p:sp>
        <p:nvSpPr>
          <p:cNvPr id="20" name="Text 18"/>
          <p:cNvSpPr/>
          <p:nvPr/>
        </p:nvSpPr>
        <p:spPr>
          <a:xfrm>
            <a:off x="1005840" y="4023360"/>
            <a:ext cx="7680960" cy="228600"/>
          </a:xfrm>
          <a:prstGeom prst="rect">
            <a:avLst/>
          </a:prstGeom>
          <a:noFill/>
          <a:ln/>
        </p:spPr>
        <p:txBody>
          <a:bodyPr wrap="square" rtlCol="0" anchor="ctr"/>
          <a:lstStyle/>
          <a:p>
            <a:pPr indent="0" marL="0">
              <a:buNone/>
            </a:pPr>
            <a:r>
              <a:rPr lang="en-US" sz="1000" i="1" dirty="0">
                <a:solidFill>
                  <a:srgbClr val="707070"/>
                </a:solidFill>
              </a:rPr>
              <a:t>Key concepts from this workshop adapted from Zwingmann's book:</a:t>
            </a:r>
            <a:endParaRPr lang="en-US" sz="1000" dirty="0"/>
          </a:p>
        </p:txBody>
      </p:sp>
      <p:sp>
        <p:nvSpPr>
          <p:cNvPr id="21" name="Text 19"/>
          <p:cNvSpPr/>
          <p:nvPr/>
        </p:nvSpPr>
        <p:spPr>
          <a:xfrm>
            <a:off x="1097280" y="4251960"/>
            <a:ext cx="7589520" cy="320040"/>
          </a:xfrm>
          <a:prstGeom prst="rect">
            <a:avLst/>
          </a:prstGeom>
          <a:noFill/>
          <a:ln/>
        </p:spPr>
        <p:txBody>
          <a:bodyPr wrap="square" rtlCol="0" anchor="ctr"/>
          <a:lstStyle/>
          <a:p>
            <a:pPr indent="0" marL="0">
              <a:buNone/>
            </a:pPr>
            <a:r>
              <a:rPr lang="en-US" sz="900" dirty="0">
                <a:solidFill>
                  <a:srgbClr val="707070"/>
                </a:solidFill>
              </a:rPr>
              <a:t>The IA-AI Framework (Assistants, Copilots, Autopilots, Agents) • The value threshold concept • AI value levers (Cost, Quality, Speed, Scalability)</a:t>
            </a:r>
            <a:endParaRPr lang="en-US" sz="900" dirty="0"/>
          </a:p>
        </p:txBody>
      </p:sp>
      <p:sp>
        <p:nvSpPr>
          <p:cNvPr id="22" name="Text 20"/>
          <p:cNvSpPr/>
          <p:nvPr/>
        </p:nvSpPr>
        <p:spPr>
          <a:xfrm>
            <a:off x="1005840" y="4617720"/>
            <a:ext cx="7680960" cy="274320"/>
          </a:xfrm>
          <a:prstGeom prst="rect">
            <a:avLst/>
          </a:prstGeom>
          <a:noFill/>
          <a:ln/>
        </p:spPr>
        <p:txBody>
          <a:bodyPr wrap="square" rtlCol="0" anchor="ctr"/>
          <a:lstStyle/>
          <a:p>
            <a:pPr indent="0" marL="0">
              <a:buNone/>
            </a:pPr>
            <a:r>
              <a:rPr lang="en-US" sz="1100" dirty="0">
                <a:solidFill>
                  <a:srgbClr val="1F2120"/>
                </a:solidFill>
              </a:rPr>
              <a:t>SAFE Framework: stringfestanalytics.com/when-to-use-ai-in-excel-and-when-you-absolutely-shouldnt/</a:t>
            </a:r>
            <a:endParaRPr lang="en-US" sz="1100" dirty="0"/>
          </a:p>
        </p:txBody>
      </p:sp>
      <p:sp>
        <p:nvSpPr>
          <p:cNvPr id="23" name="Shape 21"/>
          <p:cNvSpPr/>
          <p:nvPr/>
        </p:nvSpPr>
        <p:spPr>
          <a:xfrm>
            <a:off x="8503920" y="4572000"/>
            <a:ext cx="182880" cy="182880"/>
          </a:xfrm>
          <a:prstGeom prst="triangle">
            <a:avLst/>
          </a:prstGeom>
          <a:solidFill>
            <a:srgbClr val="CF3338"/>
          </a:solidFill>
          <a:ln/>
        </p:spPr>
      </p:sp>
      <p:sp>
        <p:nvSpPr>
          <p:cNvPr id="24" name="Shape 22"/>
          <p:cNvSpPr/>
          <p:nvPr/>
        </p:nvSpPr>
        <p:spPr>
          <a:xfrm>
            <a:off x="8668512" y="4736592"/>
            <a:ext cx="182880" cy="182880"/>
          </a:xfrm>
          <a:prstGeom prst="triangle">
            <a:avLst/>
          </a:prstGeom>
          <a:solidFill>
            <a:srgbClr val="CF3338"/>
          </a:solidFill>
          <a:ln/>
        </p:spPr>
      </p:sp>
      <p:sp>
        <p:nvSpPr>
          <p:cNvPr id="25" name="Shape 23"/>
          <p:cNvSpPr/>
          <p:nvPr/>
        </p:nvSpPr>
        <p:spPr>
          <a:xfrm>
            <a:off x="8833104" y="4901184"/>
            <a:ext cx="182880" cy="182880"/>
          </a:xfrm>
          <a:prstGeom prst="triangle">
            <a:avLst/>
          </a:prstGeom>
          <a:solidFill>
            <a:srgbClr val="CF333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2026-03-23T13:34:17Z</dcterms:created>
  <dcterms:modified xsi:type="dcterms:W3CDTF">2026-03-23T13:34:17Z</dcterms:modified>
</cp:coreProperties>
</file>